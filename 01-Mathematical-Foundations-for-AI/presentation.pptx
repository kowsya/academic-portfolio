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nton" charset="1" panose="00000500000000000000"/>
      <p:regular r:id="rId27"/>
    </p:embeddedFont>
    <p:embeddedFont>
      <p:font typeface="Poppins" charset="1" panose="00000500000000000000"/>
      <p:regular r:id="rId28"/>
    </p:embeddedFont>
    <p:embeddedFont>
      <p:font typeface="Canva Sans Italics" charset="1" panose="020B0503030501040103"/>
      <p:regular r:id="rId29"/>
    </p:embeddedFont>
    <p:embeddedFont>
      <p:font typeface="Canva Sans" charset="1" panose="020B0503030501040103"/>
      <p:regular r:id="rId30"/>
    </p:embeddedFont>
    <p:embeddedFont>
      <p:font typeface="Poppins Italics" charset="1" panose="00000500000000000000"/>
      <p:regular r:id="rId31"/>
    </p:embeddedFont>
    <p:embeddedFont>
      <p:font typeface="Canva Sans Bold" charset="1" panose="020B0803030501040103"/>
      <p:regular r:id="rId32"/>
    </p:embeddedFont>
    <p:embeddedFont>
      <p:font typeface="Arimo" charset="1" panose="020B0604020202020204"/>
      <p:regular r:id="rId33"/>
    </p:embeddedFont>
    <p:embeddedFont>
      <p:font typeface="Arimo Bold" charset="1" panose="020B0704020202020204"/>
      <p:regular r:id="rId34"/>
    </p:embeddedFont>
    <p:embeddedFont>
      <p:font typeface="Poppins Bold" charset="1" panose="00000800000000000000"/>
      <p:regular r:id="rId35"/>
    </p:embeddedFont>
    <p:embeddedFont>
      <p:font typeface="Roboto" charset="1" panose="02000000000000000000"/>
      <p:regular r:id="rId36"/>
    </p:embeddedFont>
    <p:embeddedFont>
      <p:font typeface="Roboto Bold" charset="1" panose="020000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00068" y="2489043"/>
            <a:ext cx="1337350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spc="489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MATHS MINI PROJECT 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17956" y="3842064"/>
            <a:ext cx="8137732" cy="566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6"/>
              </a:lnSpc>
            </a:pPr>
            <a:r>
              <a:rPr lang="en-US" sz="3182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Chi-Square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89233" y="7208153"/>
            <a:ext cx="8137732" cy="215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6"/>
              </a:lnSpc>
            </a:pP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By: Sakshi Gaonkar &amp; Kowsya Mu</a:t>
            </a: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un</a:t>
            </a: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du</a:t>
            </a:r>
          </a:p>
          <a:p>
            <a:pPr algn="ctr">
              <a:lnSpc>
                <a:spcPts val="3476"/>
              </a:lnSpc>
            </a:pP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MSc</a:t>
            </a: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ti</a:t>
            </a: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ici</a:t>
            </a: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l Intellige</a:t>
            </a: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nce</a:t>
            </a:r>
          </a:p>
          <a:p>
            <a:pPr algn="ctr">
              <a:lnSpc>
                <a:spcPts val="3476"/>
              </a:lnSpc>
            </a:pP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Goa Busines</a:t>
            </a: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s Sc</a:t>
            </a: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hool</a:t>
            </a:r>
          </a:p>
          <a:p>
            <a:pPr algn="ctr">
              <a:lnSpc>
                <a:spcPts val="3476"/>
              </a:lnSpc>
            </a:pPr>
            <a:r>
              <a:rPr lang="en-US" sz="2483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Batch: 2025–26 </a:t>
            </a:r>
          </a:p>
          <a:p>
            <a:pPr algn="ctr">
              <a:lnSpc>
                <a:spcPts val="319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48568" y="1701883"/>
            <a:ext cx="6990865" cy="105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9"/>
              </a:lnSpc>
            </a:pPr>
            <a:r>
              <a:rPr lang="en-US" sz="6206" spc="434" u="sng">
                <a:solidFill>
                  <a:srgbClr val="545454"/>
                </a:solidFill>
                <a:latin typeface="Anton"/>
                <a:ea typeface="Anton"/>
                <a:cs typeface="Anton"/>
                <a:sym typeface="Anton"/>
              </a:rPr>
              <a:t>CONTENT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2181" y="3640981"/>
            <a:ext cx="3268058" cy="559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8363" indent="-334182" lvl="1">
              <a:lnSpc>
                <a:spcPts val="4333"/>
              </a:lnSpc>
              <a:buAutoNum type="arabicPeriod" startAt="1"/>
            </a:pPr>
            <a:r>
              <a:rPr lang="en-US" sz="3095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10540" y="5049066"/>
            <a:ext cx="4369504" cy="55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3"/>
              </a:lnSpc>
            </a:pPr>
            <a:r>
              <a:rPr lang="en-US" sz="3095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4. 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10540" y="3601566"/>
            <a:ext cx="2417978" cy="559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3"/>
              </a:lnSpc>
            </a:pPr>
            <a:r>
              <a:rPr lang="en-US" sz="3095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2. Objective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3216" y="5048250"/>
            <a:ext cx="3840020" cy="55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3"/>
              </a:lnSpc>
            </a:pPr>
            <a:r>
              <a:rPr lang="en-US" sz="3095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3. Aim of the Study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6523" y="3640981"/>
            <a:ext cx="3996894" cy="559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3"/>
              </a:lnSpc>
            </a:pPr>
            <a:r>
              <a:rPr lang="en-US" sz="3095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4. Literature Survey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10540" y="6455519"/>
            <a:ext cx="3718995" cy="55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3"/>
              </a:lnSpc>
            </a:pPr>
            <a:r>
              <a:rPr lang="en-US" sz="3095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7. Data Collection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3216" y="7861156"/>
            <a:ext cx="4212459" cy="110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3"/>
              </a:lnSpc>
            </a:pPr>
            <a:r>
              <a:rPr lang="en-US" sz="3095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9. Significance of the Study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3216" y="6454703"/>
            <a:ext cx="3280280" cy="55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3"/>
              </a:lnSpc>
            </a:pPr>
            <a:r>
              <a:rPr lang="en-US" sz="3095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6. 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31629" y="6490854"/>
            <a:ext cx="4626682" cy="55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3"/>
              </a:lnSpc>
            </a:pPr>
            <a:r>
              <a:rPr lang="en-US" sz="3095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8. Results overview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46523" y="5086350"/>
            <a:ext cx="2832029" cy="559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3"/>
              </a:lnSpc>
            </a:pPr>
            <a:r>
              <a:rPr lang="en-US" sz="3095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5. Hypothesis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63808" y="7900072"/>
            <a:ext cx="4212459" cy="110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3"/>
              </a:lnSpc>
            </a:pPr>
            <a:r>
              <a:rPr lang="en-US" sz="3095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10. Limitations and Future scope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56308" y="7939388"/>
            <a:ext cx="4212459" cy="55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3"/>
              </a:lnSpc>
            </a:pPr>
            <a:r>
              <a:rPr lang="en-US" sz="3095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11. 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57246" y="2222343"/>
            <a:ext cx="1337350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spc="489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IN</a:t>
            </a:r>
            <a:r>
              <a:rPr lang="en-US" sz="6999" spc="489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68270" y="3597118"/>
            <a:ext cx="11122464" cy="387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4"/>
              </a:lnSpc>
            </a:pP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In today’s digital era, students spend significant time on screens — for online classes, entertainment, and social media. W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hile digital learning has advantages, excessive screen exposure can impact attention span, sleep quality, and academic consistency.</a:t>
            </a:r>
          </a:p>
          <a:p>
            <a:pPr algn="just">
              <a:lnSpc>
                <a:spcPts val="3444"/>
              </a:lnSpc>
            </a:pP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Students frequently multitask while studying, leading to reduced focus and productivity.</a:t>
            </a:r>
          </a:p>
          <a:p>
            <a:pPr algn="just">
              <a:lnSpc>
                <a:spcPts val="3444"/>
              </a:lnSpc>
            </a:pP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This proposal explores how these daily habits — particularly screen time and sleep — may affect s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tudent 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erformance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ing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 s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tific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statist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cal approach.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06964" y="6681805"/>
            <a:ext cx="5007537" cy="887155"/>
          </a:xfrm>
          <a:custGeom>
            <a:avLst/>
            <a:gdLst/>
            <a:ahLst/>
            <a:cxnLst/>
            <a:rect r="r" b="b" t="t" l="l"/>
            <a:pathLst>
              <a:path h="887155" w="5007537">
                <a:moveTo>
                  <a:pt x="0" y="0"/>
                </a:moveTo>
                <a:lnTo>
                  <a:pt x="5007537" y="0"/>
                </a:lnTo>
                <a:lnTo>
                  <a:pt x="5007537" y="887154"/>
                </a:lnTo>
                <a:lnTo>
                  <a:pt x="0" y="8871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10971" r="0" b="-64335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57246" y="2222343"/>
            <a:ext cx="1337350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spc="489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IN</a:t>
            </a:r>
            <a:r>
              <a:rPr lang="en-US" sz="6999" spc="489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06964" y="3754567"/>
            <a:ext cx="10874072" cy="580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Chi-Square Test:</a:t>
            </a:r>
          </a:p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Determines if there is</a:t>
            </a:r>
            <a:r>
              <a:rPr lang="en-US" sz="27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significant association between two categorical variables. </a:t>
            </a:r>
            <a:r>
              <a:rPr lang="en-US" sz="27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Compares observed frequencies (O) with expected frequencies (E).</a:t>
            </a:r>
          </a:p>
          <a:p>
            <a:pPr algn="ctr">
              <a:lnSpc>
                <a:spcPts val="3862"/>
              </a:lnSpc>
            </a:pPr>
          </a:p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Formula:</a:t>
            </a:r>
          </a:p>
          <a:p>
            <a:pPr algn="l">
              <a:lnSpc>
                <a:spcPts val="3862"/>
              </a:lnSpc>
            </a:pPr>
          </a:p>
          <a:p>
            <a:pPr algn="ctr">
              <a:lnSpc>
                <a:spcPts val="3862"/>
              </a:lnSpc>
            </a:pPr>
          </a:p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 = Observed frequency</a:t>
            </a:r>
          </a:p>
          <a:p>
            <a:pPr algn="l">
              <a:lnSpc>
                <a:spcPts val="3862"/>
              </a:lnSpc>
            </a:pPr>
            <a:r>
              <a:rPr lang="en-US" sz="27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E= Expected frequency</a:t>
            </a:r>
          </a:p>
          <a:p>
            <a:pPr algn="ctr">
              <a:lnSpc>
                <a:spcPts val="3862"/>
              </a:lnSpc>
            </a:pPr>
          </a:p>
          <a:p>
            <a:pPr algn="ctr">
              <a:lnSpc>
                <a:spcPts val="3862"/>
              </a:lnSpc>
            </a:pPr>
            <a:r>
              <a:rPr lang="en-US" sz="27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Expected frequency = (row sum * column sum) / table sum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73392" y="2212818"/>
            <a:ext cx="11161149" cy="119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8"/>
              </a:lnSpc>
            </a:pPr>
            <a:r>
              <a:rPr lang="en-US" sz="7005" spc="490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PR</a:t>
            </a:r>
            <a:r>
              <a:rPr lang="en-US" sz="7005" spc="490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83398" y="3685867"/>
            <a:ext cx="11122464" cy="429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4"/>
              </a:lnSpc>
            </a:pPr>
            <a:r>
              <a:rPr lang="en-US" sz="2460" i="true">
                <a:solidFill>
                  <a:srgbClr val="54545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Despite the widespread use of digital devices, little evidence-based analysis exists on how these habits influence academic outcomes.</a:t>
            </a:r>
          </a:p>
          <a:p>
            <a:pPr algn="just">
              <a:lnSpc>
                <a:spcPts val="3444"/>
              </a:lnSpc>
            </a:pPr>
            <a:r>
              <a:rPr lang="en-US" sz="2460" i="true">
                <a:solidFill>
                  <a:srgbClr val="54545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Our study seeks to answer:</a:t>
            </a:r>
          </a:p>
          <a:p>
            <a:pPr algn="just" marL="531179" indent="-265589" lvl="1">
              <a:lnSpc>
                <a:spcPts val="3444"/>
              </a:lnSpc>
              <a:buFont typeface="Arial"/>
              <a:buChar char="•"/>
            </a:pPr>
            <a:r>
              <a:rPr lang="en-US" sz="2460" i="true">
                <a:solidFill>
                  <a:srgbClr val="54545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Do students who spend more time on screens tend to sleep less?</a:t>
            </a:r>
          </a:p>
          <a:p>
            <a:pPr algn="just" marL="531179" indent="-265589" lvl="1">
              <a:lnSpc>
                <a:spcPts val="3444"/>
              </a:lnSpc>
              <a:buFont typeface="Arial"/>
              <a:buChar char="•"/>
            </a:pPr>
            <a:r>
              <a:rPr lang="en-US" sz="2460" i="true">
                <a:solidFill>
                  <a:srgbClr val="54545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Does screen time affect how well students perform academically?</a:t>
            </a:r>
          </a:p>
          <a:p>
            <a:pPr algn="just" marL="531179" indent="-265589" lvl="1">
              <a:lnSpc>
                <a:spcPts val="3444"/>
              </a:lnSpc>
              <a:buFont typeface="Arial"/>
              <a:buChar char="•"/>
            </a:pPr>
            <a:r>
              <a:rPr lang="en-US" sz="2460" i="true">
                <a:solidFill>
                  <a:srgbClr val="54545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Are students’ study habits linked to their performance levels?</a:t>
            </a:r>
          </a:p>
          <a:p>
            <a:pPr algn="just" marL="531179" indent="-265589" lvl="1">
              <a:lnSpc>
                <a:spcPts val="3444"/>
              </a:lnSpc>
              <a:buFont typeface="Arial"/>
              <a:buChar char="•"/>
            </a:pPr>
            <a:r>
              <a:rPr lang="en-US" sz="2460" i="true">
                <a:solidFill>
                  <a:srgbClr val="54545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By applying a statistical method — the Chi-Square test — we aim to find out if these variables are related or independent.</a:t>
            </a:r>
          </a:p>
          <a:p>
            <a:pPr algn="just">
              <a:lnSpc>
                <a:spcPts val="3444"/>
              </a:lnSpc>
            </a:pPr>
          </a:p>
          <a:p>
            <a:pPr algn="just">
              <a:lnSpc>
                <a:spcPts val="344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861385" y="-363531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2"/>
                </a:lnTo>
                <a:lnTo>
                  <a:pt x="2083939" y="6359212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04197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40" y="6359211"/>
                </a:lnTo>
                <a:lnTo>
                  <a:pt x="2083940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192057" y="227995"/>
            <a:ext cx="2321177" cy="3263265"/>
            <a:chOff x="0" y="0"/>
            <a:chExt cx="522510" cy="7345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2510" cy="734579"/>
            </a:xfrm>
            <a:custGeom>
              <a:avLst/>
              <a:gdLst/>
              <a:ahLst/>
              <a:cxnLst/>
              <a:rect r="r" b="b" t="t" l="l"/>
              <a:pathLst>
                <a:path h="734579" w="522510">
                  <a:moveTo>
                    <a:pt x="0" y="0"/>
                  </a:moveTo>
                  <a:lnTo>
                    <a:pt x="522510" y="0"/>
                  </a:lnTo>
                  <a:lnTo>
                    <a:pt x="522510" y="734579"/>
                  </a:lnTo>
                  <a:lnTo>
                    <a:pt x="0" y="734579"/>
                  </a:lnTo>
                  <a:close/>
                </a:path>
              </a:pathLst>
            </a:custGeom>
            <a:blipFill>
              <a:blip r:embed="rId6"/>
              <a:stretch>
                <a:fillRect l="0" t="-3381" r="0" b="-3381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31503" y="3110397"/>
          <a:ext cx="16029882" cy="6585851"/>
        </p:xfrm>
        <a:graphic>
          <a:graphicData uri="http://schemas.openxmlformats.org/drawingml/2006/table">
            <a:tbl>
              <a:tblPr/>
              <a:tblGrid>
                <a:gridCol w="2385866"/>
                <a:gridCol w="2385866"/>
                <a:gridCol w="2385866"/>
                <a:gridCol w="2385866"/>
                <a:gridCol w="3242423"/>
                <a:gridCol w="3243996"/>
              </a:tblGrid>
              <a:tr h="17956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99"/>
                        </a:lnSpc>
                        <a:defRPr/>
                      </a:pPr>
                      <a:r>
                        <a:rPr lang="en-US" b="true" sz="1999" spc="335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Title of Study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Journal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Objective of the Study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Research Context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Methodology Used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 spc="67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Key Finding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902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Chi-Square Tests in Medical Research</a:t>
                      </a:r>
                      <a:endParaRPr lang="en-US" sz="1100"/>
                    </a:p>
                  </a:txBody>
                  <a:tcPr marL="104775" marR="104775" marT="104775" marB="104775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Anesthesia &amp; Analgesia</a:t>
                      </a:r>
                      <a:endParaRPr lang="en-US" sz="1100"/>
                    </a:p>
                  </a:txBody>
                  <a:tcPr marL="104775" marR="104775" marT="104775" marB="104775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To demonstrate how categorical data can be analyzed statistically using the Chi-Square Test in a medical context.</a:t>
                      </a:r>
                      <a:endParaRPr lang="en-US" sz="1100"/>
                    </a:p>
                  </a:txBody>
                  <a:tcPr marL="104775" marR="104775" marT="104775" marB="104775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Comparison of two drugs — </a:t>
                      </a:r>
                      <a:r>
                        <a:rPr lang="en-US" sz="20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norepinephrine</a:t>
                      </a: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and </a:t>
                      </a:r>
                      <a:r>
                        <a:rPr lang="en-US" sz="20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phenylephrine</a:t>
                      </a: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— to evaluate their influence on the occurrence of </a:t>
                      </a:r>
                      <a:r>
                        <a:rPr lang="en-US" sz="20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bradycardia</a:t>
                      </a: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(slow heart rate) in surgical patients.</a:t>
                      </a:r>
                      <a:endParaRPr lang="en-US" sz="1100"/>
                    </a:p>
                  </a:txBody>
                  <a:tcPr marL="104775" marR="104775" marT="104775" marB="104775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 Collected categorical patient data (drug type vs occurrence of bradycardia).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 Constructed contingency tables.</a:t>
                      </a:r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 Applied Chi-Square Test of Independence.</a:t>
                      </a:r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 Interpreted statistical significance based on p-value.</a:t>
                      </a:r>
                    </a:p>
                  </a:txBody>
                  <a:tcPr marL="104775" marR="104775" marT="104775" marB="104775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The Chi-Square test revealed that 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treatment type and patient outcome were not independent</a:t>
                      </a:r>
                      <a:r>
                        <a:rPr lang="en-US" sz="21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,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confirming an association between the two variables.</a:t>
                      </a:r>
                      <a:endParaRPr lang="en-US" sz="1100"/>
                    </a:p>
                  </a:txBody>
                  <a:tcPr marL="104775" marR="104775" marT="104775" marB="104775" anchor="t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3030908" y="1621365"/>
            <a:ext cx="11161149" cy="119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8"/>
              </a:lnSpc>
            </a:pPr>
            <a:r>
              <a:rPr lang="en-US" sz="7005" spc="490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LITERATURE SURVEY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94724" y="2127585"/>
            <a:ext cx="6990865" cy="105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9"/>
              </a:lnSpc>
            </a:pPr>
            <a:r>
              <a:rPr lang="en-US" sz="6206" spc="434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Aim Of The Study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89233" y="3628967"/>
            <a:ext cx="10092888" cy="419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4"/>
              </a:lnSpc>
            </a:pPr>
            <a:r>
              <a:rPr lang="en-US" sz="2395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The main aim of this study is to examine and understand the relationships among three important lifestyle factors</a:t>
            </a:r>
          </a:p>
          <a:p>
            <a:pPr algn="just">
              <a:lnSpc>
                <a:spcPts val="3354"/>
              </a:lnSpc>
            </a:pPr>
            <a:r>
              <a:rPr lang="en-US" sz="2395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 — screen time, sleep, and study habits</a:t>
            </a:r>
          </a:p>
          <a:p>
            <a:pPr algn="just">
              <a:lnSpc>
                <a:spcPts val="3354"/>
              </a:lnSpc>
            </a:pPr>
            <a:r>
              <a:rPr lang="en-US" sz="2395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 — and their influence on student performance.</a:t>
            </a:r>
          </a:p>
          <a:p>
            <a:pPr algn="just">
              <a:lnSpc>
                <a:spcPts val="3354"/>
              </a:lnSpc>
            </a:pPr>
            <a:r>
              <a:rPr lang="en-US" sz="2395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 We aim to apply the Chi-Square Test of Independence to check for associations between these categorical variables and to interpret whether the relationships are significant.</a:t>
            </a:r>
          </a:p>
          <a:p>
            <a:pPr algn="just">
              <a:lnSpc>
                <a:spcPts val="3354"/>
              </a:lnSpc>
            </a:pPr>
            <a:r>
              <a:rPr lang="en-US" sz="2395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 By adapting the method from Schober &amp; Vetter (2019), we bring a well-established statistical approach from medicine into an educational context.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57246" y="2222343"/>
            <a:ext cx="1337350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spc="489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68270" y="3597118"/>
            <a:ext cx="11122464" cy="558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1179" indent="-265589" lvl="1">
              <a:lnSpc>
                <a:spcPts val="3444"/>
              </a:lnSpc>
              <a:buAutoNum type="arabicPeriod" startAt="1"/>
            </a:pP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To understand how the Chi-Square test can be used to identify relationships between categorical variables.</a:t>
            </a:r>
          </a:p>
          <a:p>
            <a:pPr algn="just" marL="531179" indent="-265589" lvl="1">
              <a:lnSpc>
                <a:spcPts val="3444"/>
              </a:lnSpc>
              <a:buAutoNum type="arabicPeriod" startAt="1"/>
            </a:pP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To replicate a method originally used in m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edical research for educational data.</a:t>
            </a:r>
          </a:p>
          <a:p>
            <a:pPr algn="just" marL="531179" indent="-265589" lvl="1">
              <a:lnSpc>
                <a:spcPts val="3444"/>
              </a:lnSpc>
              <a:buAutoNum type="arabicPeriod" startAt="1"/>
            </a:pP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To collect primary data through surveys on screen time, sleep, and study behavior.</a:t>
            </a:r>
          </a:p>
          <a:p>
            <a:pPr algn="just" marL="531179" indent="-265589" lvl="1">
              <a:lnSpc>
                <a:spcPts val="3444"/>
              </a:lnSpc>
              <a:buFont typeface="Arial"/>
              <a:buChar char="•"/>
            </a:pP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To test three key relationships using Chi-Square analysis:</a:t>
            </a:r>
          </a:p>
          <a:p>
            <a:pPr algn="just" marL="531179" indent="-265589" lvl="1">
              <a:lnSpc>
                <a:spcPts val="3444"/>
              </a:lnSpc>
              <a:buFont typeface="Arial"/>
              <a:buChar char="•"/>
            </a:pP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Screen Time vs Sleep</a:t>
            </a:r>
          </a:p>
          <a:p>
            <a:pPr algn="just" marL="531179" indent="-265589" lvl="1">
              <a:lnSpc>
                <a:spcPts val="3444"/>
              </a:lnSpc>
              <a:buFont typeface="Arial"/>
              <a:buChar char="•"/>
            </a:pP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Study Habits vs Performance</a:t>
            </a:r>
          </a:p>
          <a:p>
            <a:pPr algn="just" marL="531179" indent="-265589" lvl="1">
              <a:lnSpc>
                <a:spcPts val="3444"/>
              </a:lnSpc>
              <a:buFont typeface="Arial"/>
              <a:buChar char="•"/>
            </a:pP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Screen Time vs P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erformance</a:t>
            </a:r>
          </a:p>
          <a:p>
            <a:pPr algn="just" marL="531179" indent="-265589" lvl="1">
              <a:lnSpc>
                <a:spcPts val="3444"/>
              </a:lnSpc>
              <a:buAutoNum type="arabicPeriod" startAt="1"/>
            </a:pP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interpret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and dis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cuss f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nd</a:t>
            </a:r>
            <a:r>
              <a:rPr lang="en-US" sz="246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ings that may guide better student practices.</a:t>
            </a:r>
          </a:p>
          <a:p>
            <a:pPr algn="just">
              <a:lnSpc>
                <a:spcPts val="3444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9190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3" y="0"/>
                </a:lnTo>
                <a:lnTo>
                  <a:pt x="4564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33697" y="3048142"/>
            <a:ext cx="2992930" cy="799929"/>
          </a:xfrm>
          <a:custGeom>
            <a:avLst/>
            <a:gdLst/>
            <a:ahLst/>
            <a:cxnLst/>
            <a:rect r="r" b="b" t="t" l="l"/>
            <a:pathLst>
              <a:path h="799929" w="2992930">
                <a:moveTo>
                  <a:pt x="0" y="0"/>
                </a:moveTo>
                <a:lnTo>
                  <a:pt x="2992931" y="0"/>
                </a:lnTo>
                <a:lnTo>
                  <a:pt x="2992931" y="799928"/>
                </a:lnTo>
                <a:lnTo>
                  <a:pt x="0" y="7999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18264" y="3005875"/>
            <a:ext cx="3268347" cy="873540"/>
          </a:xfrm>
          <a:custGeom>
            <a:avLst/>
            <a:gdLst/>
            <a:ahLst/>
            <a:cxnLst/>
            <a:rect r="r" b="b" t="t" l="l"/>
            <a:pathLst>
              <a:path h="873540" w="3268347">
                <a:moveTo>
                  <a:pt x="0" y="0"/>
                </a:moveTo>
                <a:lnTo>
                  <a:pt x="3268348" y="0"/>
                </a:lnTo>
                <a:lnTo>
                  <a:pt x="3268348" y="873540"/>
                </a:lnTo>
                <a:lnTo>
                  <a:pt x="0" y="8735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332941" y="2932565"/>
            <a:ext cx="3613178" cy="965704"/>
          </a:xfrm>
          <a:custGeom>
            <a:avLst/>
            <a:gdLst/>
            <a:ahLst/>
            <a:cxnLst/>
            <a:rect r="r" b="b" t="t" l="l"/>
            <a:pathLst>
              <a:path h="965704" w="3613178">
                <a:moveTo>
                  <a:pt x="0" y="0"/>
                </a:moveTo>
                <a:lnTo>
                  <a:pt x="3613178" y="0"/>
                </a:lnTo>
                <a:lnTo>
                  <a:pt x="3613178" y="965704"/>
                </a:lnTo>
                <a:lnTo>
                  <a:pt x="0" y="965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76996" y="576276"/>
            <a:ext cx="6990865" cy="1052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9"/>
              </a:lnSpc>
            </a:pPr>
            <a:r>
              <a:rPr lang="en-US" sz="6206" spc="434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HYPOTHESES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33697" y="8733267"/>
            <a:ext cx="11071236" cy="95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</a:pPr>
            <a:r>
              <a:rPr lang="en-US" sz="1806">
                <a:solidFill>
                  <a:srgbClr val="373434"/>
                </a:solidFill>
                <a:latin typeface="Poppins"/>
                <a:ea typeface="Poppins"/>
                <a:cs typeface="Poppins"/>
                <a:sym typeface="Poppins"/>
              </a:rPr>
              <a:t>We will use a 95% confidence level (α = 0.05).</a:t>
            </a:r>
          </a:p>
          <a:p>
            <a:pPr algn="ctr">
              <a:lnSpc>
                <a:spcPts val="2528"/>
              </a:lnSpc>
            </a:pPr>
            <a:r>
              <a:rPr lang="en-US" sz="1806">
                <a:solidFill>
                  <a:srgbClr val="373434"/>
                </a:solidFill>
                <a:latin typeface="Poppins"/>
                <a:ea typeface="Poppins"/>
                <a:cs typeface="Poppins"/>
                <a:sym typeface="Poppins"/>
              </a:rPr>
              <a:t> If the p-value obtained from the test is less than 0.05, we will reject the null hypothesis and conclude that there is a significant relationship.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49193" y="1829994"/>
            <a:ext cx="12806659" cy="84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8"/>
              </a:lnSpc>
            </a:pPr>
            <a:r>
              <a:rPr lang="en-US" sz="2391">
                <a:solidFill>
                  <a:srgbClr val="373434"/>
                </a:solidFill>
                <a:latin typeface="Poppins"/>
                <a:ea typeface="Poppins"/>
                <a:cs typeface="Poppins"/>
                <a:sym typeface="Poppins"/>
              </a:rPr>
              <a:t>To verify our objectives, we have framed three pairs of hypotheses to be tested statistically using the Chi-Square Test of Independence.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736959" y="7157424"/>
            <a:ext cx="2871080" cy="1185318"/>
          </a:xfrm>
          <a:custGeom>
            <a:avLst/>
            <a:gdLst/>
            <a:ahLst/>
            <a:cxnLst/>
            <a:rect r="r" b="b" t="t" l="l"/>
            <a:pathLst>
              <a:path h="1185318" w="2871080">
                <a:moveTo>
                  <a:pt x="0" y="0"/>
                </a:moveTo>
                <a:lnTo>
                  <a:pt x="2871079" y="0"/>
                </a:lnTo>
                <a:lnTo>
                  <a:pt x="2871079" y="1185318"/>
                </a:lnTo>
                <a:lnTo>
                  <a:pt x="0" y="11853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244580" y="3190138"/>
            <a:ext cx="1863277" cy="411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6"/>
              </a:lnSpc>
            </a:pPr>
            <a:r>
              <a:rPr lang="en-US" sz="239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</a:t>
            </a:r>
            <a:r>
              <a:rPr lang="en-US" b="true" sz="239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ationship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49122" y="3244422"/>
            <a:ext cx="2650769" cy="357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5"/>
              </a:lnSpc>
            </a:pPr>
            <a:r>
              <a:rPr lang="en-US" sz="209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Null Hyp</a:t>
            </a:r>
            <a:r>
              <a:rPr lang="en-US" b="true" sz="209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othesis (H₀)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47987" y="3190138"/>
            <a:ext cx="3409206" cy="34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1"/>
              </a:lnSpc>
            </a:pPr>
            <a:r>
              <a:rPr lang="en-US" sz="201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Alternative Hyp</a:t>
            </a:r>
            <a:r>
              <a:rPr lang="en-US" b="true" sz="201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othesis (H₁)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000241" y="4212790"/>
            <a:ext cx="2871080" cy="1185318"/>
            <a:chOff x="0" y="0"/>
            <a:chExt cx="3828107" cy="15804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28107" cy="1580424"/>
            </a:xfrm>
            <a:custGeom>
              <a:avLst/>
              <a:gdLst/>
              <a:ahLst/>
              <a:cxnLst/>
              <a:rect r="r" b="b" t="t" l="l"/>
              <a:pathLst>
                <a:path h="1580424" w="3828107">
                  <a:moveTo>
                    <a:pt x="0" y="0"/>
                  </a:moveTo>
                  <a:lnTo>
                    <a:pt x="3828107" y="0"/>
                  </a:lnTo>
                  <a:lnTo>
                    <a:pt x="3828107" y="1580424"/>
                  </a:lnTo>
                  <a:lnTo>
                    <a:pt x="0" y="1580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69897" y="171450"/>
              <a:ext cx="3504489" cy="11812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57"/>
                </a:lnSpc>
              </a:pPr>
              <a:r>
                <a:rPr lang="en-US" sz="168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There is no relationship between screen time and sleep duration.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736959" y="4190030"/>
            <a:ext cx="2851171" cy="1177099"/>
            <a:chOff x="0" y="0"/>
            <a:chExt cx="3801561" cy="15694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01561" cy="1569465"/>
            </a:xfrm>
            <a:custGeom>
              <a:avLst/>
              <a:gdLst/>
              <a:ahLst/>
              <a:cxnLst/>
              <a:rect r="r" b="b" t="t" l="l"/>
              <a:pathLst>
                <a:path h="1569465" w="3801561">
                  <a:moveTo>
                    <a:pt x="0" y="0"/>
                  </a:moveTo>
                  <a:lnTo>
                    <a:pt x="3801561" y="0"/>
                  </a:lnTo>
                  <a:lnTo>
                    <a:pt x="3801561" y="1569465"/>
                  </a:lnTo>
                  <a:lnTo>
                    <a:pt x="0" y="1569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44396" y="338167"/>
              <a:ext cx="3504489" cy="787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57"/>
                </a:lnSpc>
              </a:pPr>
              <a:r>
                <a:rPr lang="en-US" sz="168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Screen time and sleep duration are related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00241" y="5622260"/>
            <a:ext cx="2871080" cy="1185318"/>
            <a:chOff x="0" y="0"/>
            <a:chExt cx="3828107" cy="15804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28107" cy="1580424"/>
            </a:xfrm>
            <a:custGeom>
              <a:avLst/>
              <a:gdLst/>
              <a:ahLst/>
              <a:cxnLst/>
              <a:rect r="r" b="b" t="t" l="l"/>
              <a:pathLst>
                <a:path h="1580424" w="3828107">
                  <a:moveTo>
                    <a:pt x="0" y="0"/>
                  </a:moveTo>
                  <a:lnTo>
                    <a:pt x="3828107" y="0"/>
                  </a:lnTo>
                  <a:lnTo>
                    <a:pt x="3828107" y="1580424"/>
                  </a:lnTo>
                  <a:lnTo>
                    <a:pt x="0" y="1580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89265" y="106017"/>
              <a:ext cx="3504489" cy="11812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57"/>
                </a:lnSpc>
              </a:pPr>
              <a:r>
                <a:rPr lang="en-US" sz="168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Study habits have no effect on academic performance.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717200" y="5622260"/>
            <a:ext cx="2871080" cy="1185318"/>
            <a:chOff x="0" y="0"/>
            <a:chExt cx="3828107" cy="15804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28107" cy="1580424"/>
            </a:xfrm>
            <a:custGeom>
              <a:avLst/>
              <a:gdLst/>
              <a:ahLst/>
              <a:cxnLst/>
              <a:rect r="r" b="b" t="t" l="l"/>
              <a:pathLst>
                <a:path h="1580424" w="3828107">
                  <a:moveTo>
                    <a:pt x="0" y="0"/>
                  </a:moveTo>
                  <a:lnTo>
                    <a:pt x="3828107" y="0"/>
                  </a:lnTo>
                  <a:lnTo>
                    <a:pt x="3828107" y="1580424"/>
                  </a:lnTo>
                  <a:lnTo>
                    <a:pt x="0" y="1580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0" y="171030"/>
              <a:ext cx="3504489" cy="11812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57"/>
                </a:lnSpc>
              </a:pPr>
              <a:r>
                <a:rPr lang="en-US" sz="168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Study habits affect academic performance.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000241" y="7140954"/>
            <a:ext cx="2871080" cy="1185318"/>
            <a:chOff x="0" y="0"/>
            <a:chExt cx="3828107" cy="15804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28107" cy="1580424"/>
            </a:xfrm>
            <a:custGeom>
              <a:avLst/>
              <a:gdLst/>
              <a:ahLst/>
              <a:cxnLst/>
              <a:rect r="r" b="b" t="t" l="l"/>
              <a:pathLst>
                <a:path h="1580424" w="3828107">
                  <a:moveTo>
                    <a:pt x="0" y="0"/>
                  </a:moveTo>
                  <a:lnTo>
                    <a:pt x="3828107" y="0"/>
                  </a:lnTo>
                  <a:lnTo>
                    <a:pt x="3828107" y="1580424"/>
                  </a:lnTo>
                  <a:lnTo>
                    <a:pt x="0" y="1580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216642" y="64257"/>
              <a:ext cx="3504489" cy="11812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57"/>
                </a:lnSpc>
              </a:pPr>
              <a:r>
                <a:rPr lang="en-US" sz="1684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Screen time does not influence academic performance.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838557" y="7238407"/>
            <a:ext cx="2628367" cy="900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7"/>
              </a:lnSpc>
            </a:pPr>
            <a:r>
              <a:rPr lang="en-US" sz="168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Screen time influences academic performance.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2733697" y="4336264"/>
            <a:ext cx="3108534" cy="830826"/>
          </a:xfrm>
          <a:custGeom>
            <a:avLst/>
            <a:gdLst/>
            <a:ahLst/>
            <a:cxnLst/>
            <a:rect r="r" b="b" t="t" l="l"/>
            <a:pathLst>
              <a:path h="830826" w="3108534">
                <a:moveTo>
                  <a:pt x="0" y="0"/>
                </a:moveTo>
                <a:lnTo>
                  <a:pt x="3108535" y="0"/>
                </a:lnTo>
                <a:lnTo>
                  <a:pt x="3108535" y="830826"/>
                </a:lnTo>
                <a:lnTo>
                  <a:pt x="0" y="8308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2604408" y="5655284"/>
            <a:ext cx="3512553" cy="938810"/>
          </a:xfrm>
          <a:custGeom>
            <a:avLst/>
            <a:gdLst/>
            <a:ahLst/>
            <a:cxnLst/>
            <a:rect r="r" b="b" t="t" l="l"/>
            <a:pathLst>
              <a:path h="938810" w="3512553">
                <a:moveTo>
                  <a:pt x="0" y="0"/>
                </a:moveTo>
                <a:lnTo>
                  <a:pt x="3512553" y="0"/>
                </a:lnTo>
                <a:lnTo>
                  <a:pt x="3512553" y="938810"/>
                </a:lnTo>
                <a:lnTo>
                  <a:pt x="0" y="9388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2733697" y="7256014"/>
            <a:ext cx="3501763" cy="935926"/>
          </a:xfrm>
          <a:custGeom>
            <a:avLst/>
            <a:gdLst/>
            <a:ahLst/>
            <a:cxnLst/>
            <a:rect r="r" b="b" t="t" l="l"/>
            <a:pathLst>
              <a:path h="935926" w="3501763">
                <a:moveTo>
                  <a:pt x="0" y="0"/>
                </a:moveTo>
                <a:lnTo>
                  <a:pt x="3501764" y="0"/>
                </a:lnTo>
                <a:lnTo>
                  <a:pt x="3501764" y="935926"/>
                </a:lnTo>
                <a:lnTo>
                  <a:pt x="0" y="9359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2854199" y="4553218"/>
            <a:ext cx="2751927" cy="358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8"/>
              </a:lnSpc>
            </a:pPr>
            <a:r>
              <a:rPr lang="en-US" sz="210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Scree</a:t>
            </a:r>
            <a:r>
              <a:rPr lang="en-US" b="true" sz="21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 Time vs Sleep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667601" y="5973337"/>
            <a:ext cx="3373131" cy="33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sz="186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Study H</a:t>
            </a:r>
            <a:r>
              <a:rPr lang="en-US" b="true" sz="18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abits vs Performance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19537" y="7534039"/>
            <a:ext cx="3297424" cy="33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sz="186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Screen T</a:t>
            </a:r>
            <a:r>
              <a:rPr lang="en-US" b="true" sz="186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ime vs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47250" y="559072"/>
            <a:ext cx="3952776" cy="2130885"/>
          </a:xfrm>
          <a:custGeom>
            <a:avLst/>
            <a:gdLst/>
            <a:ahLst/>
            <a:cxnLst/>
            <a:rect r="r" b="b" t="t" l="l"/>
            <a:pathLst>
              <a:path h="2130885" w="3952776">
                <a:moveTo>
                  <a:pt x="0" y="0"/>
                </a:moveTo>
                <a:lnTo>
                  <a:pt x="3952775" y="0"/>
                </a:lnTo>
                <a:lnTo>
                  <a:pt x="3952775" y="2130885"/>
                </a:lnTo>
                <a:lnTo>
                  <a:pt x="0" y="213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1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47166" y="658043"/>
            <a:ext cx="6990865" cy="105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9"/>
              </a:lnSpc>
            </a:pPr>
            <a:r>
              <a:rPr lang="en-US" sz="6206" spc="434" u="sng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METHODOLOGY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0010" y="7158893"/>
            <a:ext cx="4487841" cy="2009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8"/>
              </a:lnSpc>
            </a:pPr>
            <a:r>
              <a:rPr lang="en-US" sz="2256" i="true">
                <a:solidFill>
                  <a:srgbClr val="37343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Responses were categorized — for example, screen time as Low (≤4 hrs) or High (&gt;4 hrs), performance as High/Medium/Low.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5659" y="6254436"/>
            <a:ext cx="5258081" cy="67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3"/>
              </a:lnSpc>
            </a:pPr>
            <a:r>
              <a:rPr lang="en-US" b="true" sz="3766">
                <a:solidFill>
                  <a:srgbClr val="373434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Classification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73022" y="3369126"/>
            <a:ext cx="3774228" cy="1609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8"/>
              </a:lnSpc>
            </a:pPr>
            <a:r>
              <a:rPr lang="en-US" sz="2256" i="true">
                <a:solidFill>
                  <a:srgbClr val="37343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Data will be organized into contingency tables and tested using the Chi-Square formula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03749"/>
            <a:ext cx="3832271" cy="67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3"/>
              </a:lnSpc>
            </a:pPr>
            <a:r>
              <a:rPr lang="en-US" b="true" sz="3766">
                <a:solidFill>
                  <a:srgbClr val="373434"/>
                </a:solidFill>
                <a:latin typeface="Poppins Bold"/>
                <a:ea typeface="Poppins Bold"/>
                <a:cs typeface="Poppins Bold"/>
                <a:sym typeface="Poppins Bold"/>
              </a:rPr>
              <a:t>Data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00010" y="3494622"/>
            <a:ext cx="3661949" cy="1962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7"/>
              </a:lnSpc>
            </a:pPr>
            <a:r>
              <a:rPr lang="en-US" sz="2212" i="true">
                <a:solidFill>
                  <a:srgbClr val="37343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We used Google Forms to collect responses from students about screen usage, sleep duration, and study habits.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85635" y="2585182"/>
            <a:ext cx="3611044" cy="67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3"/>
              </a:lnSpc>
            </a:pPr>
            <a:r>
              <a:rPr lang="en-US" b="true" sz="3766">
                <a:solidFill>
                  <a:srgbClr val="373434"/>
                </a:solidFill>
                <a:latin typeface="Poppins Bold"/>
                <a:ea typeface="Poppins Bold"/>
                <a:cs typeface="Poppins Bold"/>
                <a:sym typeface="Poppins Bold"/>
              </a:rPr>
              <a:t>Survey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39176" y="6164838"/>
            <a:ext cx="3832271" cy="67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3"/>
              </a:lnSpc>
            </a:pPr>
            <a:r>
              <a:rPr lang="en-US" b="true" sz="3766">
                <a:solidFill>
                  <a:srgbClr val="373434"/>
                </a:solidFill>
                <a:latin typeface="Poppins Bold"/>
                <a:ea typeface="Poppins Bold"/>
                <a:cs typeface="Poppins Bold"/>
                <a:sym typeface="Poppins Bold"/>
              </a:rPr>
              <a:t>Interpretation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73022" y="7158893"/>
            <a:ext cx="4273456" cy="2009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8"/>
              </a:lnSpc>
            </a:pPr>
            <a:r>
              <a:rPr lang="en-US" sz="2256" i="true">
                <a:solidFill>
                  <a:srgbClr val="37343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 calculated χ² value is compared with the critical value at 0.05 significance level to determine dependency.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61960" y="9105738"/>
            <a:ext cx="4401608" cy="118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62649" indent="-181325" lvl="1">
              <a:lnSpc>
                <a:spcPts val="2351"/>
              </a:lnSpc>
              <a:buFont typeface="Arial"/>
              <a:buChar char="•"/>
            </a:pPr>
            <a:r>
              <a:rPr lang="en-US" sz="1679">
                <a:solidFill>
                  <a:srgbClr val="373434"/>
                </a:solidFill>
                <a:latin typeface="Canva Sans"/>
                <a:ea typeface="Canva Sans"/>
                <a:cs typeface="Canva Sans"/>
                <a:sym typeface="Canva Sans"/>
              </a:rPr>
              <a:t>Decision Rule:</a:t>
            </a:r>
          </a:p>
          <a:p>
            <a:pPr algn="ctr" marL="725299" indent="-241766" lvl="2">
              <a:lnSpc>
                <a:spcPts val="2351"/>
              </a:lnSpc>
              <a:buFont typeface="Arial"/>
              <a:buChar char="⚬"/>
            </a:pPr>
            <a:r>
              <a:rPr lang="en-US" sz="1679">
                <a:solidFill>
                  <a:srgbClr val="373434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1679">
                <a:solidFill>
                  <a:srgbClr val="373434"/>
                </a:solidFill>
                <a:latin typeface="Canva Sans"/>
                <a:ea typeface="Canva Sans"/>
                <a:cs typeface="Canva Sans"/>
                <a:sym typeface="Canva Sans"/>
              </a:rPr>
              <a:t> ≤ 0.05 → Relationship is significant</a:t>
            </a:r>
          </a:p>
          <a:p>
            <a:pPr algn="ctr" marL="725299" indent="-241766" lvl="2">
              <a:lnSpc>
                <a:spcPts val="2351"/>
              </a:lnSpc>
              <a:buFont typeface="Arial"/>
              <a:buChar char="⚬"/>
            </a:pPr>
            <a:r>
              <a:rPr lang="en-US" sz="1679">
                <a:solidFill>
                  <a:srgbClr val="373434"/>
                </a:solidFill>
                <a:latin typeface="Canva Sans"/>
                <a:ea typeface="Canva Sans"/>
                <a:cs typeface="Canva Sans"/>
                <a:sym typeface="Canva Sans"/>
              </a:rPr>
              <a:t>p &gt; 0.05 → Independent variables</a:t>
            </a:r>
          </a:p>
          <a:p>
            <a:pPr algn="ctr">
              <a:lnSpc>
                <a:spcPts val="2351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16943" y="1028700"/>
            <a:ext cx="753748" cy="753748"/>
          </a:xfrm>
          <a:custGeom>
            <a:avLst/>
            <a:gdLst/>
            <a:ahLst/>
            <a:cxnLst/>
            <a:rect r="r" b="b" t="t" l="l"/>
            <a:pathLst>
              <a:path h="753748" w="753748">
                <a:moveTo>
                  <a:pt x="0" y="0"/>
                </a:moveTo>
                <a:lnTo>
                  <a:pt x="753748" y="0"/>
                </a:lnTo>
                <a:lnTo>
                  <a:pt x="753748" y="753748"/>
                </a:lnTo>
                <a:lnTo>
                  <a:pt x="0" y="7537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54372" y="3343313"/>
            <a:ext cx="5817841" cy="4114800"/>
          </a:xfrm>
          <a:custGeom>
            <a:avLst/>
            <a:gdLst/>
            <a:ahLst/>
            <a:cxnLst/>
            <a:rect r="r" b="b" t="t" l="l"/>
            <a:pathLst>
              <a:path h="4114800" w="5817841">
                <a:moveTo>
                  <a:pt x="0" y="0"/>
                </a:moveTo>
                <a:lnTo>
                  <a:pt x="5817841" y="0"/>
                </a:lnTo>
                <a:lnTo>
                  <a:pt x="58178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70691" y="873051"/>
            <a:ext cx="6375073" cy="105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9"/>
              </a:lnSpc>
            </a:pPr>
            <a:r>
              <a:rPr lang="en-US" sz="6206" spc="434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DATA COLLECTION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63451" y="2305034"/>
            <a:ext cx="4292352" cy="5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2387" indent="-331193" lvl="1">
              <a:lnSpc>
                <a:spcPts val="4295"/>
              </a:lnSpc>
              <a:buFont typeface="Arial"/>
              <a:buChar char="•"/>
            </a:pP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Tool:</a:t>
            </a: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Google Forms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24157" y="3141506"/>
            <a:ext cx="5190482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41" indent="-331047" lvl="2">
              <a:lnSpc>
                <a:spcPts val="2622"/>
              </a:lnSpc>
              <a:buFont typeface="Arial"/>
              <a:buChar char="⚬"/>
            </a:pPr>
            <a:r>
              <a:rPr lang="en-US" sz="2300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Total Responses: 39 students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24157" y="3680901"/>
            <a:ext cx="5874790" cy="33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41" indent="-331047" lvl="2">
              <a:lnSpc>
                <a:spcPts val="2622"/>
              </a:lnSpc>
              <a:buFont typeface="Arial"/>
              <a:buChar char="⚬"/>
            </a:pPr>
            <a:r>
              <a:rPr lang="en-US" sz="2300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Type of Data: Primary, categorical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3451" y="4383398"/>
            <a:ext cx="3184178" cy="4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34077" indent="-317039" lvl="1">
              <a:lnSpc>
                <a:spcPts val="4111"/>
              </a:lnSpc>
              <a:buFont typeface="Arial"/>
              <a:buChar char="•"/>
            </a:pPr>
            <a:r>
              <a:rPr lang="en-US" b="true" sz="2936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</a:t>
            </a:r>
            <a:r>
              <a:rPr lang="en-US" b="true" sz="2936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 Variables: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63451" y="7728901"/>
            <a:ext cx="5382964" cy="46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4517" indent="-292258" lvl="1">
              <a:lnSpc>
                <a:spcPts val="3790"/>
              </a:lnSpc>
              <a:buFont typeface="Arial"/>
              <a:buChar char="•"/>
            </a:pPr>
            <a:r>
              <a:rPr lang="en-US" b="true" sz="2707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</a:t>
            </a:r>
            <a:r>
              <a:rPr lang="en-US" b="true" sz="2707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collected anonymously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81216" y="5032701"/>
            <a:ext cx="6778950" cy="2805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9473" indent="-333158" lvl="2">
              <a:lnSpc>
                <a:spcPts val="3240"/>
              </a:lnSpc>
              <a:buFont typeface="Arial"/>
              <a:buChar char="⚬"/>
            </a:pPr>
            <a:r>
              <a:rPr lang="en-US" sz="2314" i="true">
                <a:solidFill>
                  <a:srgbClr val="37343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Average daily screen time</a:t>
            </a:r>
          </a:p>
          <a:p>
            <a:pPr algn="l" marL="999473" indent="-333158" lvl="2">
              <a:lnSpc>
                <a:spcPts val="3240"/>
              </a:lnSpc>
              <a:buFont typeface="Arial"/>
              <a:buChar char="⚬"/>
            </a:pPr>
            <a:r>
              <a:rPr lang="en-US" sz="2314" i="true">
                <a:solidFill>
                  <a:srgbClr val="37343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Sleep duration</a:t>
            </a:r>
          </a:p>
          <a:p>
            <a:pPr algn="l" marL="999473" indent="-333158" lvl="2">
              <a:lnSpc>
                <a:spcPts val="3240"/>
              </a:lnSpc>
              <a:buFont typeface="Arial"/>
              <a:buChar char="⚬"/>
            </a:pPr>
            <a:r>
              <a:rPr lang="en-US" sz="2314" i="true">
                <a:solidFill>
                  <a:srgbClr val="37343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Academic performance</a:t>
            </a:r>
          </a:p>
          <a:p>
            <a:pPr algn="l" marL="999473" indent="-333158" lvl="2">
              <a:lnSpc>
                <a:spcPts val="3240"/>
              </a:lnSpc>
              <a:buFont typeface="Arial"/>
              <a:buChar char="⚬"/>
            </a:pPr>
            <a:r>
              <a:rPr lang="en-US" sz="2314" i="true">
                <a:solidFill>
                  <a:srgbClr val="37343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Study hours per day</a:t>
            </a:r>
          </a:p>
          <a:p>
            <a:pPr algn="l" marL="999473" indent="-333158" lvl="2">
              <a:lnSpc>
                <a:spcPts val="3240"/>
              </a:lnSpc>
              <a:buFont typeface="Arial"/>
              <a:buChar char="⚬"/>
            </a:pPr>
            <a:r>
              <a:rPr lang="en-US" sz="2314" i="true">
                <a:solidFill>
                  <a:srgbClr val="37343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Study method preference (digital/books)</a:t>
            </a:r>
          </a:p>
          <a:p>
            <a:pPr algn="l" marL="999473" indent="-333158" lvl="2">
              <a:lnSpc>
                <a:spcPts val="3240"/>
              </a:lnSpc>
              <a:buFont typeface="Arial"/>
              <a:buChar char="⚬"/>
            </a:pPr>
            <a:r>
              <a:rPr lang="en-US" sz="2314" i="true">
                <a:solidFill>
                  <a:srgbClr val="37343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Multitasking while studying</a:t>
            </a:r>
          </a:p>
          <a:p>
            <a:pPr algn="just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53446" y="1632285"/>
            <a:ext cx="8624701" cy="105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9"/>
              </a:lnSpc>
            </a:pPr>
            <a:r>
              <a:rPr lang="en-US" sz="6206" spc="434" u="sng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Sample Data Snapshot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321301" y="3179606"/>
            <a:ext cx="6401766" cy="2693639"/>
          </a:xfrm>
          <a:custGeom>
            <a:avLst/>
            <a:gdLst/>
            <a:ahLst/>
            <a:cxnLst/>
            <a:rect r="r" b="b" t="t" l="l"/>
            <a:pathLst>
              <a:path h="2693639" w="6401766">
                <a:moveTo>
                  <a:pt x="0" y="0"/>
                </a:moveTo>
                <a:lnTo>
                  <a:pt x="6401766" y="0"/>
                </a:lnTo>
                <a:lnTo>
                  <a:pt x="6401766" y="2693639"/>
                </a:lnTo>
                <a:lnTo>
                  <a:pt x="0" y="2693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3179606"/>
            <a:ext cx="6558119" cy="2762607"/>
          </a:xfrm>
          <a:custGeom>
            <a:avLst/>
            <a:gdLst/>
            <a:ahLst/>
            <a:cxnLst/>
            <a:rect r="r" b="b" t="t" l="l"/>
            <a:pathLst>
              <a:path h="2762607" w="6558119">
                <a:moveTo>
                  <a:pt x="0" y="0"/>
                </a:moveTo>
                <a:lnTo>
                  <a:pt x="6558119" y="0"/>
                </a:lnTo>
                <a:lnTo>
                  <a:pt x="6558119" y="2762607"/>
                </a:lnTo>
                <a:lnTo>
                  <a:pt x="0" y="27626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522184" y="6359211"/>
            <a:ext cx="6558119" cy="2759427"/>
          </a:xfrm>
          <a:custGeom>
            <a:avLst/>
            <a:gdLst/>
            <a:ahLst/>
            <a:cxnLst/>
            <a:rect r="r" b="b" t="t" l="l"/>
            <a:pathLst>
              <a:path h="2759427" w="6558119">
                <a:moveTo>
                  <a:pt x="0" y="0"/>
                </a:moveTo>
                <a:lnTo>
                  <a:pt x="6558119" y="0"/>
                </a:lnTo>
                <a:lnTo>
                  <a:pt x="6558119" y="2759427"/>
                </a:lnTo>
                <a:lnTo>
                  <a:pt x="0" y="27594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9773" y="3600752"/>
            <a:ext cx="16728453" cy="4389041"/>
          </a:xfrm>
          <a:custGeom>
            <a:avLst/>
            <a:gdLst/>
            <a:ahLst/>
            <a:cxnLst/>
            <a:rect r="r" b="b" t="t" l="l"/>
            <a:pathLst>
              <a:path h="4389041" w="16728453">
                <a:moveTo>
                  <a:pt x="0" y="0"/>
                </a:moveTo>
                <a:lnTo>
                  <a:pt x="16728454" y="0"/>
                </a:lnTo>
                <a:lnTo>
                  <a:pt x="16728454" y="4389040"/>
                </a:lnTo>
                <a:lnTo>
                  <a:pt x="0" y="43890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54" r="0" b="-145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53446" y="2127585"/>
            <a:ext cx="8624701" cy="105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9"/>
              </a:lnSpc>
            </a:pPr>
            <a:r>
              <a:rPr lang="en-US" sz="6206" spc="434" u="sng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Results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08371" y="8674933"/>
            <a:ext cx="11292142" cy="1372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5603" indent="-267801" lvl="1">
              <a:lnSpc>
                <a:spcPts val="3646"/>
              </a:lnSpc>
              <a:buFont typeface="Arial"/>
              <a:buChar char="•"/>
            </a:pPr>
            <a:r>
              <a:rPr lang="en-US" sz="2480" spc="-104">
                <a:solidFill>
                  <a:srgbClr val="373434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480" spc="-104">
                <a:solidFill>
                  <a:srgbClr val="373434"/>
                </a:solidFill>
                <a:latin typeface="Poppins"/>
                <a:ea typeface="Poppins"/>
                <a:cs typeface="Poppins"/>
                <a:sym typeface="Poppins"/>
              </a:rPr>
              <a:t>nterpretation:</a:t>
            </a:r>
          </a:p>
          <a:p>
            <a:pPr algn="just" marL="535603" indent="-267801" lvl="1">
              <a:lnSpc>
                <a:spcPts val="3646"/>
              </a:lnSpc>
              <a:buFont typeface="Arial"/>
              <a:buChar char="•"/>
            </a:pPr>
            <a:r>
              <a:rPr lang="en-US" sz="2480" spc="-104">
                <a:solidFill>
                  <a:srgbClr val="373434"/>
                </a:solidFill>
                <a:latin typeface="Poppins"/>
                <a:ea typeface="Poppins"/>
                <a:cs typeface="Poppins"/>
                <a:sym typeface="Poppins"/>
              </a:rPr>
              <a:t>All p-values &gt; 0.05 → no significant relationships.</a:t>
            </a:r>
          </a:p>
          <a:p>
            <a:pPr algn="just" marL="535603" indent="-267801" lvl="1">
              <a:lnSpc>
                <a:spcPts val="3646"/>
              </a:lnSpc>
              <a:buFont typeface="Arial"/>
              <a:buChar char="•"/>
            </a:pPr>
            <a:r>
              <a:rPr lang="en-US" sz="2480" spc="-104">
                <a:solidFill>
                  <a:srgbClr val="373434"/>
                </a:solidFill>
                <a:latin typeface="Poppins"/>
                <a:ea typeface="Poppins"/>
                <a:cs typeface="Poppins"/>
                <a:sym typeface="Poppins"/>
              </a:rPr>
              <a:t>However, Tests 2 &amp; 3 are close to significance, hinting at possible trends.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7036" y="1777206"/>
            <a:ext cx="15033615" cy="105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9"/>
              </a:lnSpc>
            </a:pPr>
            <a:r>
              <a:rPr lang="en-US" sz="6206" spc="434" u="sng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Result 1 – Screen Time vs Sleep Duration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7036" y="3405641"/>
            <a:ext cx="10684987" cy="5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2387" indent="-331193" lvl="1">
              <a:lnSpc>
                <a:spcPts val="4295"/>
              </a:lnSpc>
              <a:buFont typeface="Arial"/>
              <a:buChar char="•"/>
            </a:pP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</a:t>
            </a: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Check if more screen time reduces sleep.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8871" y="5060340"/>
            <a:ext cx="12996245" cy="1298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424930" indent="-474977" lvl="2">
              <a:lnSpc>
                <a:spcPts val="3761"/>
              </a:lnSpc>
              <a:buFont typeface="Arial"/>
              <a:buChar char="⚬"/>
            </a:pP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χ² = 2.5622,</a:t>
            </a: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p = 0.4642</a:t>
            </a:r>
          </a:p>
          <a:p>
            <a:pPr algn="just" marL="1424930" indent="-474977" lvl="2">
              <a:lnSpc>
                <a:spcPts val="3761"/>
              </a:lnSpc>
              <a:buFont typeface="Arial"/>
              <a:buChar char="⚬"/>
            </a:pP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Since p &gt; 0.05, we fail to reject the null hypothesis.</a:t>
            </a:r>
          </a:p>
          <a:p>
            <a:pPr algn="just">
              <a:lnSpc>
                <a:spcPts val="273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07036" y="4195293"/>
            <a:ext cx="10684987" cy="5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387" indent="-331193" lvl="1">
              <a:lnSpc>
                <a:spcPts val="4295"/>
              </a:lnSpc>
              <a:buFont typeface="Arial"/>
              <a:buChar char="•"/>
            </a:pP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indings: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97908" y="6301257"/>
            <a:ext cx="10684987" cy="5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387" indent="-331193" lvl="1">
              <a:lnSpc>
                <a:spcPts val="4295"/>
              </a:lnSpc>
              <a:buFont typeface="Arial"/>
              <a:buChar char="•"/>
            </a:pP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</a:t>
            </a: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nclusion: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1970" y="6944562"/>
            <a:ext cx="12996245" cy="3203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424930" indent="-474977" lvl="2">
              <a:lnSpc>
                <a:spcPts val="3761"/>
              </a:lnSpc>
              <a:buFont typeface="Arial"/>
              <a:buChar char="⚬"/>
            </a:pP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Screen time and</a:t>
            </a: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sleep duration appear independent in this sample.</a:t>
            </a:r>
          </a:p>
          <a:p>
            <a:pPr algn="just" marL="1424930" indent="-474977" lvl="2">
              <a:lnSpc>
                <a:spcPts val="3761"/>
              </a:lnSpc>
              <a:buFont typeface="Arial"/>
              <a:buChar char="⚬"/>
            </a:pP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Late-n</a:t>
            </a: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ight screen use may affect sleep for some, but statistically it’s not proven here.</a:t>
            </a:r>
          </a:p>
          <a:p>
            <a:pPr algn="just" marL="1424930" indent="-474977" lvl="2">
              <a:lnSpc>
                <a:spcPts val="3761"/>
              </a:lnSpc>
              <a:buFont typeface="Arial"/>
              <a:buChar char="⚬"/>
            </a:pP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Possible reason: variations in personal habits or small sample size.</a:t>
            </a:r>
          </a:p>
          <a:p>
            <a:pPr algn="just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1970" y="1756528"/>
            <a:ext cx="16280964" cy="95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9"/>
              </a:lnSpc>
            </a:pPr>
            <a:r>
              <a:rPr lang="en-US" sz="5606" spc="392" u="sng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Result 2 – Study Hours vs Academic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7036" y="3405641"/>
            <a:ext cx="13117087" cy="5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387" indent="-331193" lvl="1">
              <a:lnSpc>
                <a:spcPts val="4295"/>
              </a:lnSpc>
              <a:buFont typeface="Arial"/>
              <a:buChar char="•"/>
            </a:pP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</a:t>
            </a: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Test if consistent study hours improve performance.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8871" y="5060340"/>
            <a:ext cx="12996245" cy="1298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424930" indent="-474977" lvl="2">
              <a:lnSpc>
                <a:spcPts val="3761"/>
              </a:lnSpc>
              <a:buFont typeface="Arial"/>
              <a:buChar char="⚬"/>
            </a:pP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χ² = 12.2601,</a:t>
            </a: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p = 0.0564</a:t>
            </a:r>
          </a:p>
          <a:p>
            <a:pPr algn="just" marL="1424930" indent="-474977" lvl="2">
              <a:lnSpc>
                <a:spcPts val="3761"/>
              </a:lnSpc>
              <a:buFont typeface="Arial"/>
              <a:buChar char="⚬"/>
            </a:pP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Slightly above 0.05 → borderline result</a:t>
            </a:r>
          </a:p>
          <a:p>
            <a:pPr algn="just">
              <a:lnSpc>
                <a:spcPts val="273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07036" y="4195293"/>
            <a:ext cx="10684987" cy="5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387" indent="-331193" lvl="1">
              <a:lnSpc>
                <a:spcPts val="4295"/>
              </a:lnSpc>
              <a:buFont typeface="Arial"/>
              <a:buChar char="•"/>
            </a:pP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indings: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97908" y="6301257"/>
            <a:ext cx="10684987" cy="5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387" indent="-331193" lvl="1">
              <a:lnSpc>
                <a:spcPts val="4295"/>
              </a:lnSpc>
              <a:buFont typeface="Arial"/>
              <a:buChar char="•"/>
            </a:pP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</a:t>
            </a: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nclusion: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1970" y="6944562"/>
            <a:ext cx="12996245" cy="3203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424930" indent="-474977" lvl="2">
              <a:lnSpc>
                <a:spcPts val="3761"/>
              </a:lnSpc>
              <a:buFont typeface="Arial"/>
              <a:buChar char="⚬"/>
            </a:pP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Evidenc</a:t>
            </a: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 of a weak trend: mor</a:t>
            </a: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</a:t>
            </a: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study hours → better performance, but not statistically strong.</a:t>
            </a:r>
          </a:p>
          <a:p>
            <a:pPr algn="just" marL="1424930" indent="-474977" lvl="2">
              <a:lnSpc>
                <a:spcPts val="3761"/>
              </a:lnSpc>
              <a:buFont typeface="Arial"/>
              <a:buChar char="⚬"/>
            </a:pP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Sugge</a:t>
            </a: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sts that study quality and focus might matter more than total hours.</a:t>
            </a:r>
          </a:p>
          <a:p>
            <a:pPr algn="just" marL="1424930" indent="-474977" lvl="2">
              <a:lnSpc>
                <a:spcPts val="3761"/>
              </a:lnSpc>
              <a:buFont typeface="Arial"/>
              <a:buChar char="⚬"/>
            </a:pP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With more participants, this relationship might reach significance.</a:t>
            </a:r>
          </a:p>
          <a:p>
            <a:pPr algn="just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1970" y="1756528"/>
            <a:ext cx="16280964" cy="95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9"/>
              </a:lnSpc>
            </a:pPr>
            <a:r>
              <a:rPr lang="en-US" sz="5606" spc="392" u="sng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Result 3 – Screen Time vs Academic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7036" y="3405641"/>
            <a:ext cx="13117087" cy="5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387" indent="-331193" lvl="1">
              <a:lnSpc>
                <a:spcPts val="4295"/>
              </a:lnSpc>
              <a:buFont typeface="Arial"/>
              <a:buChar char="•"/>
            </a:pP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</a:t>
            </a: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Test if high screen time lowers academic results.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8871" y="5060340"/>
            <a:ext cx="12996245" cy="1298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424930" indent="-474977" lvl="2">
              <a:lnSpc>
                <a:spcPts val="3761"/>
              </a:lnSpc>
              <a:buFont typeface="Arial"/>
              <a:buChar char="⚬"/>
            </a:pP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χ² = 5.6032,</a:t>
            </a: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p = 0.0607</a:t>
            </a:r>
          </a:p>
          <a:p>
            <a:pPr algn="just" marL="1424930" indent="-474977" lvl="2">
              <a:lnSpc>
                <a:spcPts val="3761"/>
              </a:lnSpc>
              <a:buFont typeface="Arial"/>
              <a:buChar char="⚬"/>
            </a:pP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Slightly above 0.05 → borderline non-significant</a:t>
            </a:r>
          </a:p>
          <a:p>
            <a:pPr algn="just">
              <a:lnSpc>
                <a:spcPts val="273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07036" y="4195293"/>
            <a:ext cx="10684987" cy="5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387" indent="-331193" lvl="1">
              <a:lnSpc>
                <a:spcPts val="4295"/>
              </a:lnSpc>
              <a:buFont typeface="Arial"/>
              <a:buChar char="•"/>
            </a:pP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indings: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97908" y="6301257"/>
            <a:ext cx="10684987" cy="5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387" indent="-331193" lvl="1">
              <a:lnSpc>
                <a:spcPts val="4295"/>
              </a:lnSpc>
              <a:buFont typeface="Arial"/>
              <a:buChar char="•"/>
            </a:pP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</a:t>
            </a: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nclusion: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1970" y="6944562"/>
            <a:ext cx="12996245" cy="3203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424930" indent="-474977" lvl="2">
              <a:lnSpc>
                <a:spcPts val="3761"/>
              </a:lnSpc>
              <a:buFont typeface="Arial"/>
              <a:buChar char="⚬"/>
            </a:pP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Students</a:t>
            </a: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with lower screen tim</a:t>
            </a: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</a:t>
            </a: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tended to have higher grades, but difference is not statistically strong.</a:t>
            </a:r>
          </a:p>
          <a:p>
            <a:pPr algn="just" marL="1424930" indent="-474977" lvl="2">
              <a:lnSpc>
                <a:spcPts val="3761"/>
              </a:lnSpc>
              <a:buFont typeface="Arial"/>
              <a:buChar char="⚬"/>
            </a:pP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Indica</a:t>
            </a: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tes a possible negative correlation, but needs more data to confirm.</a:t>
            </a:r>
          </a:p>
          <a:p>
            <a:pPr algn="just" marL="1424930" indent="-474977" lvl="2">
              <a:lnSpc>
                <a:spcPts val="3761"/>
              </a:lnSpc>
              <a:buFont typeface="Arial"/>
              <a:buChar char="⚬"/>
            </a:pP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Sugges</a:t>
            </a:r>
            <a:r>
              <a:rPr lang="en-US" sz="3299" i="true">
                <a:solidFill>
                  <a:srgbClr val="231815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ts moderation in screen use may help performance.</a:t>
            </a:r>
          </a:p>
          <a:p>
            <a:pPr algn="just">
              <a:lnSpc>
                <a:spcPts val="2736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35897" y="3281014"/>
            <a:ext cx="9783529" cy="468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9708" indent="-264854" lvl="1">
              <a:lnSpc>
                <a:spcPts val="4195"/>
              </a:lnSpc>
              <a:buFont typeface="Arial"/>
              <a:buChar char="•"/>
            </a:pPr>
            <a:r>
              <a:rPr lang="en-US" sz="2453" spc="26">
                <a:solidFill>
                  <a:srgbClr val="272626"/>
                </a:solidFill>
                <a:latin typeface="Roboto"/>
                <a:ea typeface="Roboto"/>
                <a:cs typeface="Roboto"/>
                <a:sym typeface="Roboto"/>
              </a:rPr>
              <a:t>Demonstrates that a statistical m</a:t>
            </a:r>
            <a:r>
              <a:rPr lang="en-US" sz="2453" spc="26">
                <a:solidFill>
                  <a:srgbClr val="272626"/>
                </a:solidFill>
                <a:latin typeface="Roboto"/>
                <a:ea typeface="Roboto"/>
                <a:cs typeface="Roboto"/>
                <a:sym typeface="Roboto"/>
              </a:rPr>
              <a:t>ethod used in medical research can also apply to education.</a:t>
            </a:r>
          </a:p>
          <a:p>
            <a:pPr algn="l" marL="529708" indent="-264854" lvl="1">
              <a:lnSpc>
                <a:spcPts val="4195"/>
              </a:lnSpc>
              <a:buFont typeface="Arial"/>
              <a:buChar char="•"/>
            </a:pPr>
            <a:r>
              <a:rPr lang="en-US" sz="2453" spc="26">
                <a:solidFill>
                  <a:srgbClr val="272626"/>
                </a:solidFill>
                <a:latin typeface="Roboto"/>
                <a:ea typeface="Roboto"/>
                <a:cs typeface="Roboto"/>
                <a:sym typeface="Roboto"/>
              </a:rPr>
              <a:t>Encourages evidence-based academic and lifestyle improvements.</a:t>
            </a:r>
          </a:p>
          <a:p>
            <a:pPr algn="l" marL="529708" indent="-264854" lvl="1">
              <a:lnSpc>
                <a:spcPts val="4195"/>
              </a:lnSpc>
              <a:buFont typeface="Arial"/>
              <a:buChar char="•"/>
            </a:pPr>
            <a:r>
              <a:rPr lang="en-US" sz="2453" spc="26">
                <a:solidFill>
                  <a:srgbClr val="272626"/>
                </a:solidFill>
                <a:latin typeface="Roboto"/>
                <a:ea typeface="Roboto"/>
                <a:cs typeface="Roboto"/>
                <a:sym typeface="Roboto"/>
              </a:rPr>
              <a:t>Highlights how simple tests like Chi-Square can identify behavioral patterns.</a:t>
            </a:r>
          </a:p>
          <a:p>
            <a:pPr algn="l" marL="529708" indent="-264854" lvl="1">
              <a:lnSpc>
                <a:spcPts val="4195"/>
              </a:lnSpc>
              <a:buFont typeface="Arial"/>
              <a:buChar char="•"/>
            </a:pPr>
            <a:r>
              <a:rPr lang="en-US" sz="2453" spc="26">
                <a:solidFill>
                  <a:srgbClr val="272626"/>
                </a:solidFill>
                <a:latin typeface="Roboto"/>
                <a:ea typeface="Roboto"/>
                <a:cs typeface="Roboto"/>
                <a:sym typeface="Roboto"/>
              </a:rPr>
              <a:t>Provides insights for educators to design better digital balance strategies.</a:t>
            </a:r>
          </a:p>
          <a:p>
            <a:pPr algn="l">
              <a:lnSpc>
                <a:spcPts val="419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194724" y="2127585"/>
            <a:ext cx="8624701" cy="105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9"/>
              </a:lnSpc>
            </a:pPr>
            <a:r>
              <a:rPr lang="en-US" sz="6206" spc="434" u="sng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Significance of Study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39032" y="3775389"/>
            <a:ext cx="9783529" cy="2361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066" indent="-308033" lvl="1">
              <a:lnSpc>
                <a:spcPts val="4879"/>
              </a:lnSpc>
              <a:buFont typeface="Arial"/>
              <a:buChar char="•"/>
            </a:pPr>
            <a:r>
              <a:rPr lang="en-US" sz="2853" spc="31">
                <a:solidFill>
                  <a:srgbClr val="272626"/>
                </a:solidFill>
                <a:latin typeface="Roboto"/>
                <a:ea typeface="Roboto"/>
                <a:cs typeface="Roboto"/>
                <a:sym typeface="Roboto"/>
              </a:rPr>
              <a:t>Small sample size reduces accuracy.</a:t>
            </a:r>
          </a:p>
          <a:p>
            <a:pPr algn="l" marL="616066" indent="-308033" lvl="1">
              <a:lnSpc>
                <a:spcPts val="4879"/>
              </a:lnSpc>
              <a:buFont typeface="Arial"/>
              <a:buChar char="•"/>
            </a:pPr>
            <a:r>
              <a:rPr lang="en-US" sz="2853" spc="31">
                <a:solidFill>
                  <a:srgbClr val="272626"/>
                </a:solidFill>
                <a:latin typeface="Roboto"/>
                <a:ea typeface="Roboto"/>
                <a:cs typeface="Roboto"/>
                <a:sym typeface="Roboto"/>
              </a:rPr>
              <a:t>Self-reported data may be b</a:t>
            </a:r>
            <a:r>
              <a:rPr lang="en-US" sz="2853" spc="31">
                <a:solidFill>
                  <a:srgbClr val="272626"/>
                </a:solidFill>
                <a:latin typeface="Roboto"/>
                <a:ea typeface="Roboto"/>
                <a:cs typeface="Roboto"/>
                <a:sym typeface="Roboto"/>
              </a:rPr>
              <a:t>iased.</a:t>
            </a:r>
          </a:p>
          <a:p>
            <a:pPr algn="l" marL="616066" indent="-308033" lvl="1">
              <a:lnSpc>
                <a:spcPts val="4879"/>
              </a:lnSpc>
              <a:buFont typeface="Arial"/>
              <a:buChar char="•"/>
            </a:pPr>
            <a:r>
              <a:rPr lang="en-US" sz="2853" spc="31">
                <a:solidFill>
                  <a:srgbClr val="272626"/>
                </a:solidFill>
                <a:latin typeface="Roboto"/>
                <a:ea typeface="Roboto"/>
                <a:cs typeface="Roboto"/>
                <a:sym typeface="Roboto"/>
              </a:rPr>
              <a:t>Chi-Square test identifies association, not causation.</a:t>
            </a:r>
          </a:p>
          <a:p>
            <a:pPr algn="l">
              <a:lnSpc>
                <a:spcPts val="419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035897" y="1702235"/>
            <a:ext cx="11451197" cy="105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9"/>
              </a:lnSpc>
            </a:pPr>
            <a:r>
              <a:rPr lang="en-US" sz="6206" spc="434" u="sng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Limitations and Future Scope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83939" y="3122456"/>
            <a:ext cx="13117087" cy="5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387" indent="-331193" lvl="1">
              <a:lnSpc>
                <a:spcPts val="4295"/>
              </a:lnSpc>
              <a:buFont typeface="Arial"/>
              <a:buChar char="•"/>
            </a:pP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imitations: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83939" y="6069563"/>
            <a:ext cx="13117087" cy="5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387" indent="-331193" lvl="1">
              <a:lnSpc>
                <a:spcPts val="4295"/>
              </a:lnSpc>
              <a:buFont typeface="Arial"/>
              <a:buChar char="•"/>
            </a:pP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</a:t>
            </a:r>
            <a:r>
              <a:rPr lang="en-US" b="true" sz="3068">
                <a:solidFill>
                  <a:srgbClr val="2318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ture Scope: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39032" y="6725060"/>
            <a:ext cx="9783529" cy="360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066" indent="-308033" lvl="1">
              <a:lnSpc>
                <a:spcPts val="4879"/>
              </a:lnSpc>
              <a:buFont typeface="Arial"/>
              <a:buChar char="•"/>
            </a:pPr>
            <a:r>
              <a:rPr lang="en-US" sz="2853" spc="31">
                <a:solidFill>
                  <a:srgbClr val="272626"/>
                </a:solidFill>
                <a:latin typeface="Roboto"/>
                <a:ea typeface="Roboto"/>
                <a:cs typeface="Roboto"/>
                <a:sym typeface="Roboto"/>
              </a:rPr>
              <a:t>Increase sample size to 150+ students.</a:t>
            </a:r>
          </a:p>
          <a:p>
            <a:pPr algn="l" marL="616066" indent="-308033" lvl="1">
              <a:lnSpc>
                <a:spcPts val="4879"/>
              </a:lnSpc>
              <a:buFont typeface="Arial"/>
              <a:buChar char="•"/>
            </a:pPr>
            <a:r>
              <a:rPr lang="en-US" sz="2853" spc="31">
                <a:solidFill>
                  <a:srgbClr val="272626"/>
                </a:solidFill>
                <a:latin typeface="Roboto"/>
                <a:ea typeface="Roboto"/>
                <a:cs typeface="Roboto"/>
                <a:sym typeface="Roboto"/>
              </a:rPr>
              <a:t>Inc</a:t>
            </a:r>
            <a:r>
              <a:rPr lang="en-US" sz="2853" spc="31">
                <a:solidFill>
                  <a:srgbClr val="272626"/>
                </a:solidFill>
                <a:latin typeface="Roboto"/>
                <a:ea typeface="Roboto"/>
                <a:cs typeface="Roboto"/>
                <a:sym typeface="Roboto"/>
              </a:rPr>
              <a:t>lude more variables (device type, soc</a:t>
            </a:r>
            <a:r>
              <a:rPr lang="en-US" sz="2853" spc="31">
                <a:solidFill>
                  <a:srgbClr val="272626"/>
                </a:solidFill>
                <a:latin typeface="Roboto"/>
                <a:ea typeface="Roboto"/>
                <a:cs typeface="Roboto"/>
                <a:sym typeface="Roboto"/>
              </a:rPr>
              <a:t>ial media, physical activity).</a:t>
            </a:r>
          </a:p>
          <a:p>
            <a:pPr algn="l" marL="616066" indent="-308033" lvl="1">
              <a:lnSpc>
                <a:spcPts val="4879"/>
              </a:lnSpc>
              <a:buFont typeface="Arial"/>
              <a:buChar char="•"/>
            </a:pPr>
            <a:r>
              <a:rPr lang="en-US" sz="2853" spc="31">
                <a:solidFill>
                  <a:srgbClr val="272626"/>
                </a:solidFill>
                <a:latin typeface="Roboto"/>
                <a:ea typeface="Roboto"/>
                <a:cs typeface="Roboto"/>
                <a:sym typeface="Roboto"/>
              </a:rPr>
              <a:t>Use advanced methods like ANOVA or Regression.</a:t>
            </a:r>
          </a:p>
          <a:p>
            <a:pPr algn="l" marL="616066" indent="-308033" lvl="1">
              <a:lnSpc>
                <a:spcPts val="4879"/>
              </a:lnSpc>
              <a:buFont typeface="Arial"/>
              <a:buChar char="•"/>
            </a:pPr>
            <a:r>
              <a:rPr lang="en-US" sz="2853" spc="31">
                <a:solidFill>
                  <a:srgbClr val="272626"/>
                </a:solidFill>
                <a:latin typeface="Roboto"/>
                <a:ea typeface="Roboto"/>
                <a:cs typeface="Roboto"/>
                <a:sym typeface="Roboto"/>
              </a:rPr>
              <a:t>Conduct long-term (longitudinal) studies.</a:t>
            </a:r>
          </a:p>
          <a:p>
            <a:pPr algn="l">
              <a:lnSpc>
                <a:spcPts val="4195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94724" y="2127585"/>
            <a:ext cx="6990865" cy="105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9"/>
              </a:lnSpc>
            </a:pPr>
            <a:r>
              <a:rPr lang="en-US" sz="6206" spc="434" u="sng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89233" y="3628967"/>
            <a:ext cx="10092888" cy="3777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4"/>
              </a:lnSpc>
            </a:pPr>
            <a:r>
              <a:rPr lang="en-US" sz="2395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This proposal outlines a study connecting technology use with academic and lifestyle factors.</a:t>
            </a:r>
          </a:p>
          <a:p>
            <a:pPr algn="just">
              <a:lnSpc>
                <a:spcPts val="3354"/>
              </a:lnSpc>
            </a:pPr>
            <a:r>
              <a:rPr lang="en-US" sz="2395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 By applying the Chi-Square test, we aim to determine whether screen time, sleep, and study habits are statistically related to student performance.</a:t>
            </a:r>
          </a:p>
          <a:p>
            <a:pPr algn="just">
              <a:lnSpc>
                <a:spcPts val="3354"/>
              </a:lnSpc>
            </a:pPr>
            <a:r>
              <a:rPr lang="en-US" sz="2395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 The methodology is grounded in proven research and adapted to modern student behavior.</a:t>
            </a:r>
          </a:p>
          <a:p>
            <a:pPr algn="just">
              <a:lnSpc>
                <a:spcPts val="3354"/>
              </a:lnSpc>
            </a:pPr>
            <a:r>
              <a:rPr lang="en-US" sz="2395">
                <a:solidFill>
                  <a:srgbClr val="272626"/>
                </a:solidFill>
                <a:latin typeface="Poppins"/>
                <a:ea typeface="Poppins"/>
                <a:cs typeface="Poppins"/>
                <a:sym typeface="Poppins"/>
              </a:rPr>
              <a:t> Results from this study can promote awareness about digital wellness and help improve academic performance.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23092" y="2755737"/>
            <a:ext cx="370603" cy="37060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796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036084" y="2705944"/>
            <a:ext cx="440210" cy="470190"/>
          </a:xfrm>
          <a:custGeom>
            <a:avLst/>
            <a:gdLst/>
            <a:ahLst/>
            <a:cxnLst/>
            <a:rect r="r" b="b" t="t" l="l"/>
            <a:pathLst>
              <a:path h="470190" w="440210">
                <a:moveTo>
                  <a:pt x="0" y="0"/>
                </a:moveTo>
                <a:lnTo>
                  <a:pt x="440210" y="0"/>
                </a:lnTo>
                <a:lnTo>
                  <a:pt x="440210" y="470190"/>
                </a:lnTo>
                <a:lnTo>
                  <a:pt x="0" y="470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21664" y="2448769"/>
            <a:ext cx="13444672" cy="1343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2477" b="true">
                <a:solidFill>
                  <a:srgbClr val="272626"/>
                </a:solidFill>
                <a:latin typeface="Roboto Bold"/>
                <a:ea typeface="Roboto Bold"/>
                <a:cs typeface="Roboto Bold"/>
                <a:sym typeface="Roboto Bold"/>
              </a:rPr>
              <a:t>Schober, P., &amp; Vetter, T. R. (2019). Chi-Square Tests in Medical Research. Anesthesia &amp; Analgesia, 129(5), 1193–1194.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68672" y="914400"/>
            <a:ext cx="6990865" cy="105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9"/>
              </a:lnSpc>
            </a:pPr>
            <a:r>
              <a:rPr lang="en-US" sz="6206" spc="434" u="sng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References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024799" y="4278981"/>
            <a:ext cx="370603" cy="37060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796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7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989996" y="4259005"/>
            <a:ext cx="405407" cy="433017"/>
          </a:xfrm>
          <a:custGeom>
            <a:avLst/>
            <a:gdLst/>
            <a:ahLst/>
            <a:cxnLst/>
            <a:rect r="r" b="b" t="t" l="l"/>
            <a:pathLst>
              <a:path h="433017" w="405407">
                <a:moveTo>
                  <a:pt x="0" y="0"/>
                </a:moveTo>
                <a:lnTo>
                  <a:pt x="405406" y="0"/>
                </a:lnTo>
                <a:lnTo>
                  <a:pt x="405406" y="433017"/>
                </a:lnTo>
                <a:lnTo>
                  <a:pt x="0" y="433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051061" y="5440778"/>
            <a:ext cx="370603" cy="37060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796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70888" y="6535281"/>
            <a:ext cx="370603" cy="37060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796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7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033659" y="5378140"/>
            <a:ext cx="405407" cy="433017"/>
          </a:xfrm>
          <a:custGeom>
            <a:avLst/>
            <a:gdLst/>
            <a:ahLst/>
            <a:cxnLst/>
            <a:rect r="r" b="b" t="t" l="l"/>
            <a:pathLst>
              <a:path h="433017" w="405407">
                <a:moveTo>
                  <a:pt x="0" y="0"/>
                </a:moveTo>
                <a:lnTo>
                  <a:pt x="405407" y="0"/>
                </a:lnTo>
                <a:lnTo>
                  <a:pt x="405407" y="433017"/>
                </a:lnTo>
                <a:lnTo>
                  <a:pt x="0" y="433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024799" y="6592431"/>
            <a:ext cx="405407" cy="433017"/>
          </a:xfrm>
          <a:custGeom>
            <a:avLst/>
            <a:gdLst/>
            <a:ahLst/>
            <a:cxnLst/>
            <a:rect r="r" b="b" t="t" l="l"/>
            <a:pathLst>
              <a:path h="433017" w="405407">
                <a:moveTo>
                  <a:pt x="0" y="0"/>
                </a:moveTo>
                <a:lnTo>
                  <a:pt x="405406" y="0"/>
                </a:lnTo>
                <a:lnTo>
                  <a:pt x="405406" y="433017"/>
                </a:lnTo>
                <a:lnTo>
                  <a:pt x="0" y="433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256189" y="4001830"/>
            <a:ext cx="13004462" cy="63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2477" b="true">
                <a:solidFill>
                  <a:srgbClr val="272626"/>
                </a:solidFill>
                <a:latin typeface="Roboto Bold"/>
                <a:ea typeface="Roboto Bold"/>
                <a:cs typeface="Roboto Bold"/>
                <a:sym typeface="Roboto Bold"/>
              </a:rPr>
              <a:t>Google Colab. (n.d.). Chi-Square Analysis Notebook. Retrieved November 10, 2025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0483" y="5177797"/>
            <a:ext cx="13004462" cy="63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2477" b="true">
                <a:solidFill>
                  <a:srgbClr val="272626"/>
                </a:solidFill>
                <a:latin typeface="Roboto Bold"/>
                <a:ea typeface="Roboto Bold"/>
                <a:cs typeface="Roboto Bold"/>
                <a:sym typeface="Roboto Bold"/>
              </a:rPr>
              <a:t>Wikipedia. (n.d.). Chi-squared test. Retrieved October 10, 2025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4286" y="6278106"/>
            <a:ext cx="13004462" cy="63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2477" b="true">
                <a:solidFill>
                  <a:srgbClr val="272626"/>
                </a:solidFill>
                <a:latin typeface="Roboto Bold"/>
                <a:ea typeface="Roboto Bold"/>
                <a:cs typeface="Roboto Bold"/>
                <a:sym typeface="Roboto Bold"/>
              </a:rPr>
              <a:t>GeeksforGeeks. (n.d.). Chi-Square Test. Retrieved November 10, 2025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083939" y="7835073"/>
            <a:ext cx="370603" cy="370603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796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7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105691" y="9041792"/>
            <a:ext cx="370603" cy="370603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2796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7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2070888" y="7835073"/>
            <a:ext cx="405407" cy="433017"/>
          </a:xfrm>
          <a:custGeom>
            <a:avLst/>
            <a:gdLst/>
            <a:ahLst/>
            <a:cxnLst/>
            <a:rect r="r" b="b" t="t" l="l"/>
            <a:pathLst>
              <a:path h="433017" w="405407">
                <a:moveTo>
                  <a:pt x="0" y="0"/>
                </a:moveTo>
                <a:lnTo>
                  <a:pt x="405406" y="0"/>
                </a:lnTo>
                <a:lnTo>
                  <a:pt x="405406" y="433016"/>
                </a:lnTo>
                <a:lnTo>
                  <a:pt x="0" y="433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2157896" y="9041792"/>
            <a:ext cx="405407" cy="433017"/>
          </a:xfrm>
          <a:custGeom>
            <a:avLst/>
            <a:gdLst/>
            <a:ahLst/>
            <a:cxnLst/>
            <a:rect r="r" b="b" t="t" l="l"/>
            <a:pathLst>
              <a:path h="433017" w="405407">
                <a:moveTo>
                  <a:pt x="0" y="0"/>
                </a:moveTo>
                <a:lnTo>
                  <a:pt x="405406" y="0"/>
                </a:lnTo>
                <a:lnTo>
                  <a:pt x="405406" y="433016"/>
                </a:lnTo>
                <a:lnTo>
                  <a:pt x="0" y="433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279627" y="7405333"/>
            <a:ext cx="16336047" cy="1343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2477" b="true">
                <a:solidFill>
                  <a:srgbClr val="272626"/>
                </a:solidFill>
                <a:latin typeface="Roboto Bold"/>
                <a:ea typeface="Roboto Bold"/>
                <a:cs typeface="Roboto Bold"/>
                <a:sym typeface="Roboto Bold"/>
              </a:rPr>
              <a:t>https://docs.google.com/forms/u/3/d/e/1FAIpQLSdjNy5NJs53F8p3-vGOv3-6TIwWtiBaiskrxcLDvs7T9ARNCA/formResponse?pli=1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861874" y="8740434"/>
            <a:ext cx="13004462" cy="1343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2477" b="true">
                <a:solidFill>
                  <a:srgbClr val="272626"/>
                </a:solidFill>
                <a:latin typeface="Roboto Bold"/>
                <a:ea typeface="Roboto Bold"/>
                <a:cs typeface="Roboto Bold"/>
                <a:sym typeface="Roboto Bold"/>
              </a:rPr>
              <a:t>https://docs.google.com/spreadsheets/d/11L16rhrUaJ2gZXoRFdVGcpByCfS9Pq1AGxZjFxhiLX0/edit?usp=drivesdk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24945" y="7989792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0" y="0"/>
                </a:moveTo>
                <a:lnTo>
                  <a:pt x="4564392" y="0"/>
                </a:lnTo>
                <a:lnTo>
                  <a:pt x="4564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75160" y="-1829405"/>
            <a:ext cx="4564393" cy="4114800"/>
          </a:xfrm>
          <a:custGeom>
            <a:avLst/>
            <a:gdLst/>
            <a:ahLst/>
            <a:cxnLst/>
            <a:rect r="r" b="b" t="t" l="l"/>
            <a:pathLst>
              <a:path h="4114800" w="4564393">
                <a:moveTo>
                  <a:pt x="456439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64393" y="0"/>
                </a:lnTo>
                <a:lnTo>
                  <a:pt x="456439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04061" y="0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2083939" y="0"/>
                </a:moveTo>
                <a:lnTo>
                  <a:pt x="0" y="0"/>
                </a:lnTo>
                <a:lnTo>
                  <a:pt x="0" y="6359211"/>
                </a:lnTo>
                <a:lnTo>
                  <a:pt x="2083939" y="6359211"/>
                </a:lnTo>
                <a:lnTo>
                  <a:pt x="2083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0" y="3927789"/>
            <a:ext cx="2083939" cy="6359211"/>
          </a:xfrm>
          <a:custGeom>
            <a:avLst/>
            <a:gdLst/>
            <a:ahLst/>
            <a:cxnLst/>
            <a:rect r="r" b="b" t="t" l="l"/>
            <a:pathLst>
              <a:path h="6359211" w="2083939">
                <a:moveTo>
                  <a:pt x="0" y="6359211"/>
                </a:moveTo>
                <a:lnTo>
                  <a:pt x="2083939" y="6359211"/>
                </a:lnTo>
                <a:lnTo>
                  <a:pt x="2083939" y="0"/>
                </a:lnTo>
                <a:lnTo>
                  <a:pt x="0" y="0"/>
                </a:lnTo>
                <a:lnTo>
                  <a:pt x="0" y="635921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48568" y="3718239"/>
            <a:ext cx="6990865" cy="188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8"/>
              </a:lnSpc>
            </a:pPr>
            <a:r>
              <a:rPr lang="en-US" sz="11005" spc="770" u="sng">
                <a:solidFill>
                  <a:srgbClr val="373434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DAG1AfhbdV4</dc:identifier>
  <dcterms:modified xsi:type="dcterms:W3CDTF">2011-08-01T06:04:30Z</dcterms:modified>
  <cp:revision>1</cp:revision>
  <dc:title>Maths synopsis Presentation</dc:title>
</cp:coreProperties>
</file>