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Anton" charset="1" panose="00000500000000000000"/>
      <p:regular r:id="rId48"/>
    </p:embeddedFont>
    <p:embeddedFont>
      <p:font typeface="Glacial Indifference" charset="1" panose="00000000000000000000"/>
      <p:regular r:id="rId49"/>
    </p:embeddedFont>
    <p:embeddedFont>
      <p:font typeface="Glacial Indifference Bold" charset="1" panose="00000800000000000000"/>
      <p:regular r:id="rId50"/>
    </p:embeddedFont>
    <p:embeddedFont>
      <p:font typeface="Canva Sans Bold" charset="1" panose="020B0803030501040103"/>
      <p:regular r:id="rId51"/>
    </p:embeddedFont>
    <p:embeddedFont>
      <p:font typeface="Canva Sans" charset="1" panose="020B0503030501040103"/>
      <p:regular r:id="rId52"/>
    </p:embeddedFont>
    <p:embeddedFont>
      <p:font typeface="Times New Roman MT Bold" charset="1" panose="02030802070405020303"/>
      <p:regular r:id="rId53"/>
    </p:embeddedFont>
    <p:embeddedFont>
      <p:font typeface="Times New Roman MT" charset="1" panose="02030502070405020303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https://www.canva.com/design/DAHDjcvs_Z8/sbK90g_vhzgCFp1EHZHkzQ/edit?utm_content=DAHDjcvs_Z8&amp;utm_campaign=designshare&amp;utm_medium=link2&amp;utm_source=sharebutto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7815" y="8253591"/>
            <a:ext cx="7315200" cy="994867"/>
          </a:xfrm>
          <a:custGeom>
            <a:avLst/>
            <a:gdLst/>
            <a:ahLst/>
            <a:cxnLst/>
            <a:rect r="r" b="b" t="t" l="l"/>
            <a:pathLst>
              <a:path h="994867" w="7315200">
                <a:moveTo>
                  <a:pt x="0" y="0"/>
                </a:moveTo>
                <a:lnTo>
                  <a:pt x="7315200" y="0"/>
                </a:lnTo>
                <a:lnTo>
                  <a:pt x="7315200" y="994867"/>
                </a:lnTo>
                <a:lnTo>
                  <a:pt x="0" y="99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91973" y="2454606"/>
            <a:ext cx="4867327" cy="6089659"/>
          </a:xfrm>
          <a:custGeom>
            <a:avLst/>
            <a:gdLst/>
            <a:ahLst/>
            <a:cxnLst/>
            <a:rect r="r" b="b" t="t" l="l"/>
            <a:pathLst>
              <a:path h="6089659" w="4867327">
                <a:moveTo>
                  <a:pt x="0" y="0"/>
                </a:moveTo>
                <a:lnTo>
                  <a:pt x="4867327" y="0"/>
                </a:lnTo>
                <a:lnTo>
                  <a:pt x="4867327" y="6089659"/>
                </a:lnTo>
                <a:lnTo>
                  <a:pt x="0" y="6089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5350" y="1680483"/>
            <a:ext cx="12208474" cy="246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0"/>
              </a:lnSpc>
              <a:spcBef>
                <a:spcPct val="0"/>
              </a:spcBef>
            </a:pPr>
            <a:r>
              <a:rPr lang="en-US" sz="14400" u="sng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  <a:hlinkClick r:id="rId8" tooltip="https://www.canva.com/design/DAHDjcvs_Z8/sbK90g_vhzgCFp1EHZHkzQ/edit?utm_content=DAHDjcvs_Z8&amp;utm_campaign=designshare&amp;utm_medium=link2&amp;utm_source=sharebutton"/>
              </a:rPr>
              <a:t>ADAPT-SHIELD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350" y="4411481"/>
            <a:ext cx="1036887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End-to-End Scalable and Automated Machine Learning System for Intelligent Network Intrusion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350" y="6274003"/>
            <a:ext cx="5184435" cy="148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1"/>
              </a:lnSpc>
            </a:pPr>
            <a:r>
              <a:rPr lang="en-US" sz="285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Team Members</a:t>
            </a:r>
          </a:p>
          <a:p>
            <a:pPr algn="just">
              <a:lnSpc>
                <a:spcPts val="3991"/>
              </a:lnSpc>
            </a:pPr>
            <a:r>
              <a:rPr lang="en-US" sz="285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Kowsya Mutkundu 25P0620007</a:t>
            </a:r>
          </a:p>
          <a:p>
            <a:pPr algn="just">
              <a:lnSpc>
                <a:spcPts val="3991"/>
              </a:lnSpc>
            </a:pPr>
            <a:r>
              <a:rPr lang="en-US" sz="285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Muskan Khatoon 25P0620012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99226"/>
            <a:ext cx="12208474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Int</a:t>
            </a: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441229" y="2257787"/>
            <a:ext cx="819053" cy="819053"/>
          </a:xfrm>
          <a:custGeom>
            <a:avLst/>
            <a:gdLst/>
            <a:ahLst/>
            <a:cxnLst/>
            <a:rect r="r" b="b" t="t" l="l"/>
            <a:pathLst>
              <a:path h="819053" w="819053">
                <a:moveTo>
                  <a:pt x="0" y="0"/>
                </a:moveTo>
                <a:lnTo>
                  <a:pt x="819052" y="0"/>
                </a:lnTo>
                <a:lnTo>
                  <a:pt x="819052" y="819053"/>
                </a:lnTo>
                <a:lnTo>
                  <a:pt x="0" y="819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5587" y="6225103"/>
            <a:ext cx="1091175" cy="1091175"/>
          </a:xfrm>
          <a:custGeom>
            <a:avLst/>
            <a:gdLst/>
            <a:ahLst/>
            <a:cxnLst/>
            <a:rect r="r" b="b" t="t" l="l"/>
            <a:pathLst>
              <a:path h="1091175" w="1091175">
                <a:moveTo>
                  <a:pt x="0" y="0"/>
                </a:moveTo>
                <a:lnTo>
                  <a:pt x="1091174" y="0"/>
                </a:lnTo>
                <a:lnTo>
                  <a:pt x="1091174" y="1091175"/>
                </a:lnTo>
                <a:lnTo>
                  <a:pt x="0" y="1091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51028" y="3076840"/>
            <a:ext cx="5488766" cy="5731191"/>
          </a:xfrm>
          <a:custGeom>
            <a:avLst/>
            <a:gdLst/>
            <a:ahLst/>
            <a:cxnLst/>
            <a:rect r="r" b="b" t="t" l="l"/>
            <a:pathLst>
              <a:path h="5731191" w="5488766">
                <a:moveTo>
                  <a:pt x="0" y="0"/>
                </a:moveTo>
                <a:lnTo>
                  <a:pt x="5488765" y="0"/>
                </a:lnTo>
                <a:lnTo>
                  <a:pt x="5488765" y="5731191"/>
                </a:lnTo>
                <a:lnTo>
                  <a:pt x="0" y="57311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629600"/>
            <a:ext cx="10689319" cy="579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9512" indent="-294756" lvl="1">
              <a:lnSpc>
                <a:spcPts val="3822"/>
              </a:lnSpc>
              <a:buFont typeface="Arial"/>
              <a:buChar char="•"/>
            </a:pP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Modern </a:t>
            </a: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organizations rely on digital systems such as cloud platforms, online banking, e-commerce websites, IoT networks, and remote work environments.</a:t>
            </a:r>
          </a:p>
          <a:p>
            <a:pPr algn="just" marL="589512" indent="-294756" lvl="1">
              <a:lnSpc>
                <a:spcPts val="3822"/>
              </a:lnSpc>
              <a:buFont typeface="Arial"/>
              <a:buChar char="•"/>
            </a:pP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systems generate large volumes of network traffic every second.</a:t>
            </a:r>
          </a:p>
          <a:p>
            <a:pPr algn="just" marL="589512" indent="-294756" lvl="1">
              <a:lnSpc>
                <a:spcPts val="3822"/>
              </a:lnSpc>
              <a:buFont typeface="Arial"/>
              <a:buChar char="•"/>
            </a:pP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network traffic increases the risk of cyber attacks and security threats.</a:t>
            </a:r>
          </a:p>
          <a:p>
            <a:pPr algn="just" marL="589512" indent="-294756" lvl="1">
              <a:lnSpc>
                <a:spcPts val="3822"/>
              </a:lnSpc>
              <a:buFont typeface="Arial"/>
              <a:buChar char="•"/>
            </a:pP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Modern cyber attacks are becoming automated, distributed, AI-driven, and highly adaptive.</a:t>
            </a:r>
          </a:p>
          <a:p>
            <a:pPr algn="just" marL="589512" indent="-294756" lvl="1">
              <a:lnSpc>
                <a:spcPts val="3822"/>
              </a:lnSpc>
              <a:buFont typeface="Arial"/>
              <a:buChar char="•"/>
            </a:pPr>
            <a:r>
              <a:rPr lang="en-US" sz="2730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Therefore, organizations require intelligent and advanced security systems to detect and prevent attacks.</a:t>
            </a:r>
          </a:p>
          <a:p>
            <a:pPr algn="just">
              <a:lnSpc>
                <a:spcPts val="382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20110" y="5768514"/>
            <a:ext cx="4167890" cy="4374694"/>
          </a:xfrm>
          <a:custGeom>
            <a:avLst/>
            <a:gdLst/>
            <a:ahLst/>
            <a:cxnLst/>
            <a:rect r="r" b="b" t="t" l="l"/>
            <a:pathLst>
              <a:path h="4374694" w="4167890">
                <a:moveTo>
                  <a:pt x="0" y="0"/>
                </a:moveTo>
                <a:lnTo>
                  <a:pt x="4167890" y="0"/>
                </a:lnTo>
                <a:lnTo>
                  <a:pt x="4167890" y="4374694"/>
                </a:lnTo>
                <a:lnTo>
                  <a:pt x="0" y="4374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77769"/>
            <a:ext cx="8476763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Presentation</a:t>
            </a: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 Outline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30642"/>
            <a:ext cx="12620035" cy="650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 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— CIC-IDS-2017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ystem Architecture (4 Phases)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Implementation Steps (1–13)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Results &amp; Comparison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Drift Detection &amp; Monitoring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AWS EC2 Cloud Deployment — Live at 65.0.185.101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Tools &amp; Technologies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Limitations &amp; Future Scope</a:t>
            </a:r>
          </a:p>
          <a:p>
            <a:pPr algn="l" marL="670149" indent="-335075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  <a:p>
            <a:pPr algn="l">
              <a:lnSpc>
                <a:spcPts val="43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7711" y="3203756"/>
            <a:ext cx="4821589" cy="4821589"/>
          </a:xfrm>
          <a:custGeom>
            <a:avLst/>
            <a:gdLst/>
            <a:ahLst/>
            <a:cxnLst/>
            <a:rect r="r" b="b" t="t" l="l"/>
            <a:pathLst>
              <a:path h="4821589" w="4821589">
                <a:moveTo>
                  <a:pt x="0" y="0"/>
                </a:moveTo>
                <a:lnTo>
                  <a:pt x="4821589" y="0"/>
                </a:lnTo>
                <a:lnTo>
                  <a:pt x="4821589" y="4821588"/>
                </a:lnTo>
                <a:lnTo>
                  <a:pt x="0" y="482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4717" y="664124"/>
            <a:ext cx="2759117" cy="1916152"/>
          </a:xfrm>
          <a:custGeom>
            <a:avLst/>
            <a:gdLst/>
            <a:ahLst/>
            <a:cxnLst/>
            <a:rect r="r" b="b" t="t" l="l"/>
            <a:pathLst>
              <a:path h="1916152" w="2759117">
                <a:moveTo>
                  <a:pt x="0" y="0"/>
                </a:moveTo>
                <a:lnTo>
                  <a:pt x="2759117" y="0"/>
                </a:lnTo>
                <a:lnTo>
                  <a:pt x="2759117" y="1916152"/>
                </a:lnTo>
                <a:lnTo>
                  <a:pt x="0" y="191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55742" y="7788262"/>
            <a:ext cx="2759117" cy="1916152"/>
          </a:xfrm>
          <a:custGeom>
            <a:avLst/>
            <a:gdLst/>
            <a:ahLst/>
            <a:cxnLst/>
            <a:rect r="r" b="b" t="t" l="l"/>
            <a:pathLst>
              <a:path h="1916152" w="2759117">
                <a:moveTo>
                  <a:pt x="0" y="0"/>
                </a:moveTo>
                <a:lnTo>
                  <a:pt x="2759117" y="0"/>
                </a:lnTo>
                <a:lnTo>
                  <a:pt x="2759117" y="1916152"/>
                </a:lnTo>
                <a:lnTo>
                  <a:pt x="0" y="191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5331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75231"/>
            <a:ext cx="10615486" cy="47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5"/>
              </a:lnSpc>
            </a:pPr>
            <a:r>
              <a:rPr lang="en-US" sz="3803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RESEARCH QUESTION</a:t>
            </a:r>
          </a:p>
          <a:p>
            <a:pPr algn="l">
              <a:lnSpc>
                <a:spcPts val="5325"/>
              </a:lnSpc>
            </a:pPr>
            <a:r>
              <a:rPr lang="en-US" sz="38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can we design, deploy, and maintain a scalable, continuously learning, monitored Machine Learning system that detects malicious network traffic in real-time and adapts to new attack patterns using MLOps principles?</a:t>
            </a:r>
          </a:p>
          <a:p>
            <a:pPr algn="l">
              <a:lnSpc>
                <a:spcPts val="53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20110" y="5768514"/>
            <a:ext cx="4167890" cy="4374694"/>
          </a:xfrm>
          <a:custGeom>
            <a:avLst/>
            <a:gdLst/>
            <a:ahLst/>
            <a:cxnLst/>
            <a:rect r="r" b="b" t="t" l="l"/>
            <a:pathLst>
              <a:path h="4374694" w="4167890">
                <a:moveTo>
                  <a:pt x="0" y="0"/>
                </a:moveTo>
                <a:lnTo>
                  <a:pt x="4167890" y="0"/>
                </a:lnTo>
                <a:lnTo>
                  <a:pt x="4167890" y="4374694"/>
                </a:lnTo>
                <a:lnTo>
                  <a:pt x="0" y="4374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77769"/>
            <a:ext cx="8476763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Proposed</a:t>
            </a: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84756"/>
            <a:ext cx="12620035" cy="547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  <a:spcBef>
                <a:spcPct val="0"/>
              </a:spcBef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 propose ADAPT-SHIELD, an intelligent intrusion detection s</a:t>
            </a: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ystem that uses: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Machine Learning for attack detection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Automated deployment using MLOps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Continuous monitoring and retraining</a:t>
            </a:r>
          </a:p>
          <a:p>
            <a:pPr algn="l">
              <a:lnSpc>
                <a:spcPts val="4345"/>
              </a:lnSpc>
              <a:spcBef>
                <a:spcPct val="0"/>
              </a:spcBef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system analyzes incoming traffic and classifies it as: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Normal traffic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Malicious traffic</a:t>
            </a:r>
          </a:p>
          <a:p>
            <a:pPr algn="l" marL="670149" indent="-335074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Malicious traffic is blocked before reaching the main website.</a:t>
            </a:r>
          </a:p>
          <a:p>
            <a:pPr algn="l">
              <a:lnSpc>
                <a:spcPts val="43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84051" y="3188371"/>
            <a:ext cx="5875249" cy="4753611"/>
          </a:xfrm>
          <a:custGeom>
            <a:avLst/>
            <a:gdLst/>
            <a:ahLst/>
            <a:cxnLst/>
            <a:rect r="r" b="b" t="t" l="l"/>
            <a:pathLst>
              <a:path h="4753611" w="5875249">
                <a:moveTo>
                  <a:pt x="0" y="0"/>
                </a:moveTo>
                <a:lnTo>
                  <a:pt x="5875249" y="0"/>
                </a:lnTo>
                <a:lnTo>
                  <a:pt x="5875249" y="4753610"/>
                </a:lnTo>
                <a:lnTo>
                  <a:pt x="0" y="475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2200" y="4447519"/>
            <a:ext cx="8441161" cy="324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5"/>
              </a:lnSpc>
            </a:pPr>
            <a:r>
              <a:rPr lang="en-US" sz="308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</a:t>
            </a:r>
            <a:r>
              <a:rPr lang="en-US" b="true" sz="308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Volume:</a:t>
            </a:r>
          </a:p>
          <a:p>
            <a:pPr algn="just" marL="666979" indent="-333489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2,313,810 total records. </a:t>
            </a:r>
          </a:p>
          <a:p>
            <a:pPr algn="just" marL="666979" indent="-333489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78 columns: 77 engineered network flow features + 1 class label. </a:t>
            </a:r>
          </a:p>
          <a:p>
            <a:pPr algn="just" marL="666979" indent="-333489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</a:t>
            </a:r>
            <a:r>
              <a:rPr lang="en-US" sz="308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tal Size: 261.3 MB across 8 Parquet files.</a:t>
            </a:r>
          </a:p>
          <a:p>
            <a:pPr algn="just">
              <a:lnSpc>
                <a:spcPts val="432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19946"/>
            <a:ext cx="1441077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Datas</a:t>
            </a: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et Overview — CIC-IDS2017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6006928" y="8019590"/>
            <a:ext cx="2504745" cy="2477420"/>
          </a:xfrm>
          <a:custGeom>
            <a:avLst/>
            <a:gdLst/>
            <a:ahLst/>
            <a:cxnLst/>
            <a:rect r="r" b="b" t="t" l="l"/>
            <a:pathLst>
              <a:path h="2477420" w="2504745">
                <a:moveTo>
                  <a:pt x="0" y="2477420"/>
                </a:moveTo>
                <a:lnTo>
                  <a:pt x="2504744" y="2477420"/>
                </a:lnTo>
                <a:lnTo>
                  <a:pt x="2504744" y="0"/>
                </a:lnTo>
                <a:lnTo>
                  <a:pt x="0" y="0"/>
                </a:lnTo>
                <a:lnTo>
                  <a:pt x="0" y="247742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06928" y="8019590"/>
            <a:ext cx="2504745" cy="2477420"/>
          </a:xfrm>
          <a:custGeom>
            <a:avLst/>
            <a:gdLst/>
            <a:ahLst/>
            <a:cxnLst/>
            <a:rect r="r" b="b" t="t" l="l"/>
            <a:pathLst>
              <a:path h="2477420" w="2504745">
                <a:moveTo>
                  <a:pt x="0" y="2477420"/>
                </a:moveTo>
                <a:lnTo>
                  <a:pt x="2504744" y="2477420"/>
                </a:lnTo>
                <a:lnTo>
                  <a:pt x="2504744" y="0"/>
                </a:lnTo>
                <a:lnTo>
                  <a:pt x="0" y="0"/>
                </a:lnTo>
                <a:lnTo>
                  <a:pt x="0" y="2477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7722" y="3470942"/>
            <a:ext cx="10998732" cy="6296774"/>
          </a:xfrm>
          <a:custGeom>
            <a:avLst/>
            <a:gdLst/>
            <a:ahLst/>
            <a:cxnLst/>
            <a:rect r="r" b="b" t="t" l="l"/>
            <a:pathLst>
              <a:path h="6296774" w="10998732">
                <a:moveTo>
                  <a:pt x="0" y="0"/>
                </a:moveTo>
                <a:lnTo>
                  <a:pt x="10998733" y="0"/>
                </a:lnTo>
                <a:lnTo>
                  <a:pt x="10998733" y="6296774"/>
                </a:lnTo>
                <a:lnTo>
                  <a:pt x="0" y="629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838996"/>
            <a:ext cx="14410779" cy="11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Class</a:t>
            </a:r>
            <a:r>
              <a:rPr lang="en-US" sz="7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 Distribution &amp; Decision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06928" y="8019590"/>
            <a:ext cx="2504745" cy="2477420"/>
          </a:xfrm>
          <a:custGeom>
            <a:avLst/>
            <a:gdLst/>
            <a:ahLst/>
            <a:cxnLst/>
            <a:rect r="r" b="b" t="t" l="l"/>
            <a:pathLst>
              <a:path h="2477420" w="2504745">
                <a:moveTo>
                  <a:pt x="0" y="2477420"/>
                </a:moveTo>
                <a:lnTo>
                  <a:pt x="2504744" y="2477420"/>
                </a:lnTo>
                <a:lnTo>
                  <a:pt x="2504744" y="0"/>
                </a:lnTo>
                <a:lnTo>
                  <a:pt x="0" y="0"/>
                </a:lnTo>
                <a:lnTo>
                  <a:pt x="0" y="2477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6507" y="3326000"/>
            <a:ext cx="8552359" cy="6419971"/>
          </a:xfrm>
          <a:custGeom>
            <a:avLst/>
            <a:gdLst/>
            <a:ahLst/>
            <a:cxnLst/>
            <a:rect r="r" b="b" t="t" l="l"/>
            <a:pathLst>
              <a:path h="6419971" w="8552359">
                <a:moveTo>
                  <a:pt x="0" y="0"/>
                </a:moveTo>
                <a:lnTo>
                  <a:pt x="8552359" y="0"/>
                </a:lnTo>
                <a:lnTo>
                  <a:pt x="8552359" y="6419971"/>
                </a:lnTo>
                <a:lnTo>
                  <a:pt x="0" y="6419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838996"/>
            <a:ext cx="14410779" cy="11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Class</a:t>
            </a:r>
            <a:r>
              <a:rPr lang="en-US" sz="7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 Distribution &amp; Decision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38996"/>
            <a:ext cx="14447839" cy="125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  <a:spcBef>
                <a:spcPct val="0"/>
              </a:spcBef>
            </a:pPr>
            <a:r>
              <a:rPr lang="en-US" sz="7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Data Challenges &amp; Prep</a:t>
            </a:r>
            <a:r>
              <a:rPr lang="en-US" sz="7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8982" y="3470307"/>
            <a:ext cx="17259300" cy="593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Extreme Class Imbalance: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ratio between the majority (BENIGN) and minority (Infiltration) is 54,925:1.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Solution: Handled via class_weight="balanced" and stratified splitting to ensure all classes appear in training/testing sets.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Cleaning: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entified and removed 82,004 duplicate rows during validation.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 suspicious negative values in features like Flow Duration and Flow Bytes/s.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Consistency: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StandardScaler is saved as scaler.pkl to ensure identical preprocessing during both training and real-time inference. 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8347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020759" y="-175487"/>
            <a:ext cx="3267241" cy="970202"/>
          </a:xfrm>
          <a:custGeom>
            <a:avLst/>
            <a:gdLst/>
            <a:ahLst/>
            <a:cxnLst/>
            <a:rect r="r" b="b" t="t" l="l"/>
            <a:pathLst>
              <a:path h="970202" w="3267241">
                <a:moveTo>
                  <a:pt x="0" y="0"/>
                </a:moveTo>
                <a:lnTo>
                  <a:pt x="3267241" y="0"/>
                </a:lnTo>
                <a:lnTo>
                  <a:pt x="3267241" y="970202"/>
                </a:lnTo>
                <a:lnTo>
                  <a:pt x="0" y="97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38996"/>
            <a:ext cx="14447839" cy="125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  <a:spcBef>
                <a:spcPct val="0"/>
              </a:spcBef>
            </a:pPr>
            <a:r>
              <a:rPr lang="en-US" sz="7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Data Validation &amp; Integ</a:t>
            </a:r>
            <a:r>
              <a:rPr lang="en-US" sz="74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8982" y="3470307"/>
            <a:ext cx="17259300" cy="445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system executes 7 automated c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hecks before training begins: </a:t>
            </a:r>
          </a:p>
          <a:p>
            <a:pPr algn="just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Schema Check: Confirms 2.3M rows and 78 columns.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Null/Infinite Detection: Verified zero missing or infinite values.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Label Verification: Confirms the presence of all 8 distinct attack classes.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Drift Readiness: Reference distributions are stored to enable Kolmogorov-Smirnov (KS) tests in production.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8347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020759" y="-175487"/>
            <a:ext cx="3267241" cy="970202"/>
          </a:xfrm>
          <a:custGeom>
            <a:avLst/>
            <a:gdLst/>
            <a:ahLst/>
            <a:cxnLst/>
            <a:rect r="r" b="b" t="t" l="l"/>
            <a:pathLst>
              <a:path h="970202" w="3267241">
                <a:moveTo>
                  <a:pt x="0" y="0"/>
                </a:moveTo>
                <a:lnTo>
                  <a:pt x="3267241" y="0"/>
                </a:lnTo>
                <a:lnTo>
                  <a:pt x="3267241" y="970202"/>
                </a:lnTo>
                <a:lnTo>
                  <a:pt x="0" y="97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3195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3014" y="-580474"/>
            <a:ext cx="2612572" cy="1306286"/>
          </a:xfrm>
          <a:custGeom>
            <a:avLst/>
            <a:gdLst/>
            <a:ahLst/>
            <a:cxnLst/>
            <a:rect r="r" b="b" t="t" l="l"/>
            <a:pathLst>
              <a:path h="1306286" w="2612572">
                <a:moveTo>
                  <a:pt x="0" y="0"/>
                </a:moveTo>
                <a:lnTo>
                  <a:pt x="2612572" y="0"/>
                </a:lnTo>
                <a:lnTo>
                  <a:pt x="2612572" y="1306286"/>
                </a:lnTo>
                <a:lnTo>
                  <a:pt x="0" y="1306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3963414" y="4999297"/>
            <a:ext cx="926864" cy="262892"/>
          </a:xfrm>
          <a:custGeom>
            <a:avLst/>
            <a:gdLst/>
            <a:ahLst/>
            <a:cxnLst/>
            <a:rect r="r" b="b" t="t" l="l"/>
            <a:pathLst>
              <a:path h="262892" w="926864">
                <a:moveTo>
                  <a:pt x="926864" y="262893"/>
                </a:moveTo>
                <a:lnTo>
                  <a:pt x="0" y="262893"/>
                </a:lnTo>
                <a:lnTo>
                  <a:pt x="0" y="0"/>
                </a:lnTo>
                <a:lnTo>
                  <a:pt x="926864" y="0"/>
                </a:lnTo>
                <a:lnTo>
                  <a:pt x="926864" y="26289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02169" y="462226"/>
            <a:ext cx="9984743" cy="1309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5"/>
              </a:lnSpc>
            </a:pPr>
            <a:r>
              <a:rPr lang="en-US" sz="8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System Architectur</a:t>
            </a:r>
            <a:r>
              <a:rPr lang="en-US" sz="8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35554" y="2419805"/>
            <a:ext cx="3537172" cy="6552715"/>
            <a:chOff x="0" y="0"/>
            <a:chExt cx="931601" cy="17258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1601" cy="1725818"/>
            </a:xfrm>
            <a:custGeom>
              <a:avLst/>
              <a:gdLst/>
              <a:ahLst/>
              <a:cxnLst/>
              <a:rect r="r" b="b" t="t" l="l"/>
              <a:pathLst>
                <a:path h="1725818" w="931601">
                  <a:moveTo>
                    <a:pt x="37208" y="0"/>
                  </a:moveTo>
                  <a:lnTo>
                    <a:pt x="894392" y="0"/>
                  </a:lnTo>
                  <a:cubicBezTo>
                    <a:pt x="904261" y="0"/>
                    <a:pt x="913725" y="3920"/>
                    <a:pt x="920703" y="10898"/>
                  </a:cubicBezTo>
                  <a:cubicBezTo>
                    <a:pt x="927681" y="17876"/>
                    <a:pt x="931601" y="27340"/>
                    <a:pt x="931601" y="37208"/>
                  </a:cubicBezTo>
                  <a:lnTo>
                    <a:pt x="931601" y="1688610"/>
                  </a:lnTo>
                  <a:cubicBezTo>
                    <a:pt x="931601" y="1698478"/>
                    <a:pt x="927681" y="1707942"/>
                    <a:pt x="920703" y="1714920"/>
                  </a:cubicBezTo>
                  <a:cubicBezTo>
                    <a:pt x="913725" y="1721898"/>
                    <a:pt x="904261" y="1725818"/>
                    <a:pt x="894392" y="1725818"/>
                  </a:cubicBezTo>
                  <a:lnTo>
                    <a:pt x="37208" y="1725818"/>
                  </a:lnTo>
                  <a:cubicBezTo>
                    <a:pt x="27340" y="1725818"/>
                    <a:pt x="17876" y="1721898"/>
                    <a:pt x="10898" y="1714920"/>
                  </a:cubicBezTo>
                  <a:cubicBezTo>
                    <a:pt x="3920" y="1707942"/>
                    <a:pt x="0" y="1698478"/>
                    <a:pt x="0" y="1688610"/>
                  </a:cubicBezTo>
                  <a:lnTo>
                    <a:pt x="0" y="37208"/>
                  </a:lnTo>
                  <a:cubicBezTo>
                    <a:pt x="0" y="27340"/>
                    <a:pt x="3920" y="17876"/>
                    <a:pt x="10898" y="10898"/>
                  </a:cubicBezTo>
                  <a:cubicBezTo>
                    <a:pt x="17876" y="3920"/>
                    <a:pt x="27340" y="0"/>
                    <a:pt x="3720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1601" cy="1763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3028" y="2856634"/>
            <a:ext cx="2502224" cy="920607"/>
            <a:chOff x="0" y="0"/>
            <a:chExt cx="659022" cy="2424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PHASE</a:t>
              </a:r>
            </a:p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3028" y="4519643"/>
            <a:ext cx="2502224" cy="920607"/>
            <a:chOff x="0" y="0"/>
            <a:chExt cx="659022" cy="2424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Ingestion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3028" y="6050047"/>
            <a:ext cx="2502224" cy="920607"/>
            <a:chOff x="0" y="0"/>
            <a:chExt cx="659022" cy="2424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Validation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3028" y="7580254"/>
            <a:ext cx="2502224" cy="920607"/>
            <a:chOff x="0" y="0"/>
            <a:chExt cx="659022" cy="2424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Feature Engineering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90278" y="2419805"/>
            <a:ext cx="3908306" cy="7677805"/>
            <a:chOff x="0" y="0"/>
            <a:chExt cx="1029348" cy="20221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9348" cy="2022138"/>
            </a:xfrm>
            <a:custGeom>
              <a:avLst/>
              <a:gdLst/>
              <a:ahLst/>
              <a:cxnLst/>
              <a:rect r="r" b="b" t="t" l="l"/>
              <a:pathLst>
                <a:path h="2022138" w="1029348">
                  <a:moveTo>
                    <a:pt x="33675" y="0"/>
                  </a:moveTo>
                  <a:lnTo>
                    <a:pt x="995673" y="0"/>
                  </a:lnTo>
                  <a:cubicBezTo>
                    <a:pt x="1004604" y="0"/>
                    <a:pt x="1013169" y="3548"/>
                    <a:pt x="1019485" y="9863"/>
                  </a:cubicBezTo>
                  <a:cubicBezTo>
                    <a:pt x="1025800" y="16179"/>
                    <a:pt x="1029348" y="24744"/>
                    <a:pt x="1029348" y="33675"/>
                  </a:cubicBezTo>
                  <a:lnTo>
                    <a:pt x="1029348" y="1988463"/>
                  </a:lnTo>
                  <a:cubicBezTo>
                    <a:pt x="1029348" y="1997394"/>
                    <a:pt x="1025800" y="2005960"/>
                    <a:pt x="1019485" y="2012275"/>
                  </a:cubicBezTo>
                  <a:cubicBezTo>
                    <a:pt x="1013169" y="2018590"/>
                    <a:pt x="1004604" y="2022138"/>
                    <a:pt x="995673" y="2022138"/>
                  </a:cubicBezTo>
                  <a:lnTo>
                    <a:pt x="33675" y="2022138"/>
                  </a:lnTo>
                  <a:cubicBezTo>
                    <a:pt x="24744" y="2022138"/>
                    <a:pt x="16179" y="2018590"/>
                    <a:pt x="9863" y="2012275"/>
                  </a:cubicBezTo>
                  <a:cubicBezTo>
                    <a:pt x="3548" y="2005960"/>
                    <a:pt x="0" y="1997394"/>
                    <a:pt x="0" y="1988463"/>
                  </a:cubicBezTo>
                  <a:lnTo>
                    <a:pt x="0" y="33675"/>
                  </a:lnTo>
                  <a:cubicBezTo>
                    <a:pt x="0" y="24744"/>
                    <a:pt x="3548" y="16179"/>
                    <a:pt x="9863" y="9863"/>
                  </a:cubicBezTo>
                  <a:cubicBezTo>
                    <a:pt x="16179" y="3548"/>
                    <a:pt x="24744" y="0"/>
                    <a:pt x="33675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29348" cy="2060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620118" y="4454601"/>
            <a:ext cx="2448627" cy="920607"/>
            <a:chOff x="0" y="0"/>
            <a:chExt cx="644906" cy="242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 Training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620118" y="6019528"/>
            <a:ext cx="2448627" cy="1191571"/>
            <a:chOff x="0" y="0"/>
            <a:chExt cx="644906" cy="3138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4906" cy="313829"/>
            </a:xfrm>
            <a:custGeom>
              <a:avLst/>
              <a:gdLst/>
              <a:ahLst/>
              <a:cxnLst/>
              <a:rect r="r" b="b" t="t" l="l"/>
              <a:pathLst>
                <a:path h="313829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260080"/>
                  </a:lnTo>
                  <a:cubicBezTo>
                    <a:pt x="644906" y="274335"/>
                    <a:pt x="639243" y="288007"/>
                    <a:pt x="629163" y="298087"/>
                  </a:cubicBezTo>
                  <a:cubicBezTo>
                    <a:pt x="619083" y="308167"/>
                    <a:pt x="605411" y="313829"/>
                    <a:pt x="591156" y="313829"/>
                  </a:cubicBezTo>
                  <a:lnTo>
                    <a:pt x="53750" y="313829"/>
                  </a:lnTo>
                  <a:cubicBezTo>
                    <a:pt x="24065" y="313829"/>
                    <a:pt x="0" y="289765"/>
                    <a:pt x="0" y="260080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44906" cy="35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Hyperparameter Tuning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620118" y="7587835"/>
            <a:ext cx="2448627" cy="920607"/>
            <a:chOff x="0" y="0"/>
            <a:chExt cx="644906" cy="242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MLflow Tracking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20118" y="8972519"/>
            <a:ext cx="2448627" cy="920607"/>
            <a:chOff x="0" y="0"/>
            <a:chExt cx="644906" cy="242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 Registry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620118" y="2844871"/>
            <a:ext cx="2448627" cy="920607"/>
            <a:chOff x="0" y="0"/>
            <a:chExt cx="644906" cy="242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TRAINING PHASE</a:t>
              </a:r>
            </a:p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17734" y="2419805"/>
            <a:ext cx="3537172" cy="5158985"/>
            <a:chOff x="0" y="0"/>
            <a:chExt cx="931601" cy="13587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1601" cy="1358745"/>
            </a:xfrm>
            <a:custGeom>
              <a:avLst/>
              <a:gdLst/>
              <a:ahLst/>
              <a:cxnLst/>
              <a:rect r="r" b="b" t="t" l="l"/>
              <a:pathLst>
                <a:path h="1358745" w="931601">
                  <a:moveTo>
                    <a:pt x="37208" y="0"/>
                  </a:moveTo>
                  <a:lnTo>
                    <a:pt x="894392" y="0"/>
                  </a:lnTo>
                  <a:cubicBezTo>
                    <a:pt x="904261" y="0"/>
                    <a:pt x="913725" y="3920"/>
                    <a:pt x="920703" y="10898"/>
                  </a:cubicBezTo>
                  <a:cubicBezTo>
                    <a:pt x="927681" y="17876"/>
                    <a:pt x="931601" y="27340"/>
                    <a:pt x="931601" y="37208"/>
                  </a:cubicBezTo>
                  <a:lnTo>
                    <a:pt x="931601" y="1321537"/>
                  </a:lnTo>
                  <a:cubicBezTo>
                    <a:pt x="931601" y="1331405"/>
                    <a:pt x="927681" y="1340869"/>
                    <a:pt x="920703" y="1347847"/>
                  </a:cubicBezTo>
                  <a:cubicBezTo>
                    <a:pt x="913725" y="1354825"/>
                    <a:pt x="904261" y="1358745"/>
                    <a:pt x="894392" y="1358745"/>
                  </a:cubicBezTo>
                  <a:lnTo>
                    <a:pt x="37208" y="1358745"/>
                  </a:lnTo>
                  <a:cubicBezTo>
                    <a:pt x="27340" y="1358745"/>
                    <a:pt x="17876" y="1354825"/>
                    <a:pt x="10898" y="1347847"/>
                  </a:cubicBezTo>
                  <a:cubicBezTo>
                    <a:pt x="3920" y="1340869"/>
                    <a:pt x="0" y="1331405"/>
                    <a:pt x="0" y="1321537"/>
                  </a:cubicBezTo>
                  <a:lnTo>
                    <a:pt x="0" y="37208"/>
                  </a:lnTo>
                  <a:cubicBezTo>
                    <a:pt x="0" y="27340"/>
                    <a:pt x="3920" y="17876"/>
                    <a:pt x="10898" y="10898"/>
                  </a:cubicBezTo>
                  <a:cubicBezTo>
                    <a:pt x="17876" y="3920"/>
                    <a:pt x="27340" y="0"/>
                    <a:pt x="3720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31601" cy="1396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35208" y="4519643"/>
            <a:ext cx="2502224" cy="920607"/>
            <a:chOff x="0" y="0"/>
            <a:chExt cx="659022" cy="2424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FastAPI REST API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135208" y="6050047"/>
            <a:ext cx="2502224" cy="1191571"/>
            <a:chOff x="0" y="0"/>
            <a:chExt cx="659022" cy="31382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9022" cy="313829"/>
            </a:xfrm>
            <a:custGeom>
              <a:avLst/>
              <a:gdLst/>
              <a:ahLst/>
              <a:cxnLst/>
              <a:rect r="r" b="b" t="t" l="l"/>
              <a:pathLst>
                <a:path h="313829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261231"/>
                  </a:lnTo>
                  <a:cubicBezTo>
                    <a:pt x="659022" y="275181"/>
                    <a:pt x="653480" y="288560"/>
                    <a:pt x="643616" y="298424"/>
                  </a:cubicBezTo>
                  <a:cubicBezTo>
                    <a:pt x="633752" y="308288"/>
                    <a:pt x="620374" y="313829"/>
                    <a:pt x="606424" y="313829"/>
                  </a:cubicBezTo>
                  <a:lnTo>
                    <a:pt x="52598" y="313829"/>
                  </a:lnTo>
                  <a:cubicBezTo>
                    <a:pt x="38648" y="313829"/>
                    <a:pt x="25270" y="308288"/>
                    <a:pt x="15406" y="298424"/>
                  </a:cubicBezTo>
                  <a:cubicBezTo>
                    <a:pt x="5542" y="288560"/>
                    <a:pt x="0" y="275181"/>
                    <a:pt x="0" y="261231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59022" cy="35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Docker Containerization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135208" y="2856634"/>
            <a:ext cx="2502224" cy="920607"/>
            <a:chOff x="0" y="0"/>
            <a:chExt cx="659022" cy="242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9022" cy="242464"/>
            </a:xfrm>
            <a:custGeom>
              <a:avLst/>
              <a:gdLst/>
              <a:ahLst/>
              <a:cxnLst/>
              <a:rect r="r" b="b" t="t" l="l"/>
              <a:pathLst>
                <a:path h="242464" w="659022">
                  <a:moveTo>
                    <a:pt x="52598" y="0"/>
                  </a:moveTo>
                  <a:lnTo>
                    <a:pt x="606424" y="0"/>
                  </a:lnTo>
                  <a:cubicBezTo>
                    <a:pt x="620374" y="0"/>
                    <a:pt x="633752" y="5542"/>
                    <a:pt x="643616" y="15406"/>
                  </a:cubicBezTo>
                  <a:cubicBezTo>
                    <a:pt x="653480" y="25270"/>
                    <a:pt x="659022" y="38648"/>
                    <a:pt x="659022" y="52598"/>
                  </a:cubicBezTo>
                  <a:lnTo>
                    <a:pt x="659022" y="189866"/>
                  </a:lnTo>
                  <a:cubicBezTo>
                    <a:pt x="659022" y="203816"/>
                    <a:pt x="653480" y="217195"/>
                    <a:pt x="643616" y="227059"/>
                  </a:cubicBezTo>
                  <a:cubicBezTo>
                    <a:pt x="633752" y="236923"/>
                    <a:pt x="620374" y="242464"/>
                    <a:pt x="606424" y="242464"/>
                  </a:cubicBezTo>
                  <a:lnTo>
                    <a:pt x="52598" y="242464"/>
                  </a:lnTo>
                  <a:cubicBezTo>
                    <a:pt x="23549" y="242464"/>
                    <a:pt x="0" y="218915"/>
                    <a:pt x="0" y="189866"/>
                  </a:cubicBezTo>
                  <a:lnTo>
                    <a:pt x="0" y="52598"/>
                  </a:lnTo>
                  <a:cubicBezTo>
                    <a:pt x="0" y="38648"/>
                    <a:pt x="5542" y="25270"/>
                    <a:pt x="15406" y="15406"/>
                  </a:cubicBezTo>
                  <a:cubicBezTo>
                    <a:pt x="25270" y="5542"/>
                    <a:pt x="38648" y="0"/>
                    <a:pt x="52598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9022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SERVING PHASE</a:t>
              </a:r>
            </a:p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36896" y="2419805"/>
            <a:ext cx="3908306" cy="7867195"/>
            <a:chOff x="0" y="0"/>
            <a:chExt cx="1029348" cy="20720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9348" cy="2072018"/>
            </a:xfrm>
            <a:custGeom>
              <a:avLst/>
              <a:gdLst/>
              <a:ahLst/>
              <a:cxnLst/>
              <a:rect r="r" b="b" t="t" l="l"/>
              <a:pathLst>
                <a:path h="2072018" w="1029348">
                  <a:moveTo>
                    <a:pt x="33675" y="0"/>
                  </a:moveTo>
                  <a:lnTo>
                    <a:pt x="995673" y="0"/>
                  </a:lnTo>
                  <a:cubicBezTo>
                    <a:pt x="1004604" y="0"/>
                    <a:pt x="1013169" y="3548"/>
                    <a:pt x="1019485" y="9863"/>
                  </a:cubicBezTo>
                  <a:cubicBezTo>
                    <a:pt x="1025800" y="16179"/>
                    <a:pt x="1029348" y="24744"/>
                    <a:pt x="1029348" y="33675"/>
                  </a:cubicBezTo>
                  <a:lnTo>
                    <a:pt x="1029348" y="2038343"/>
                  </a:lnTo>
                  <a:cubicBezTo>
                    <a:pt x="1029348" y="2047275"/>
                    <a:pt x="1025800" y="2055840"/>
                    <a:pt x="1019485" y="2062155"/>
                  </a:cubicBezTo>
                  <a:cubicBezTo>
                    <a:pt x="1013169" y="2068471"/>
                    <a:pt x="1004604" y="2072018"/>
                    <a:pt x="995673" y="2072018"/>
                  </a:cubicBezTo>
                  <a:lnTo>
                    <a:pt x="33675" y="2072018"/>
                  </a:lnTo>
                  <a:cubicBezTo>
                    <a:pt x="24744" y="2072018"/>
                    <a:pt x="16179" y="2068471"/>
                    <a:pt x="9863" y="2062155"/>
                  </a:cubicBezTo>
                  <a:cubicBezTo>
                    <a:pt x="3548" y="2055840"/>
                    <a:pt x="0" y="2047275"/>
                    <a:pt x="0" y="2038343"/>
                  </a:cubicBezTo>
                  <a:lnTo>
                    <a:pt x="0" y="33675"/>
                  </a:lnTo>
                  <a:cubicBezTo>
                    <a:pt x="0" y="24744"/>
                    <a:pt x="3548" y="16179"/>
                    <a:pt x="9863" y="9863"/>
                  </a:cubicBezTo>
                  <a:cubicBezTo>
                    <a:pt x="16179" y="3548"/>
                    <a:pt x="24744" y="0"/>
                    <a:pt x="33675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29348" cy="2110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466735" y="4454601"/>
            <a:ext cx="2448627" cy="1191571"/>
            <a:chOff x="0" y="0"/>
            <a:chExt cx="644906" cy="3138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4906" cy="313829"/>
            </a:xfrm>
            <a:custGeom>
              <a:avLst/>
              <a:gdLst/>
              <a:ahLst/>
              <a:cxnLst/>
              <a:rect r="r" b="b" t="t" l="l"/>
              <a:pathLst>
                <a:path h="313829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260080"/>
                  </a:lnTo>
                  <a:cubicBezTo>
                    <a:pt x="644906" y="274335"/>
                    <a:pt x="639243" y="288007"/>
                    <a:pt x="629163" y="298087"/>
                  </a:cubicBezTo>
                  <a:cubicBezTo>
                    <a:pt x="619083" y="308167"/>
                    <a:pt x="605411" y="313829"/>
                    <a:pt x="591156" y="313829"/>
                  </a:cubicBezTo>
                  <a:lnTo>
                    <a:pt x="53750" y="313829"/>
                  </a:lnTo>
                  <a:cubicBezTo>
                    <a:pt x="24065" y="313829"/>
                    <a:pt x="0" y="289765"/>
                    <a:pt x="0" y="260080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44906" cy="35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CI/CD (GitHub Actions)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466735" y="6019528"/>
            <a:ext cx="2448627" cy="920607"/>
            <a:chOff x="0" y="0"/>
            <a:chExt cx="644906" cy="2424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Drift Detection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466735" y="7587835"/>
            <a:ext cx="2448627" cy="920607"/>
            <a:chOff x="0" y="0"/>
            <a:chExt cx="644906" cy="2424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AWS CloudWatch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466735" y="8972519"/>
            <a:ext cx="2448627" cy="1191571"/>
            <a:chOff x="0" y="0"/>
            <a:chExt cx="644906" cy="3138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4906" cy="313829"/>
            </a:xfrm>
            <a:custGeom>
              <a:avLst/>
              <a:gdLst/>
              <a:ahLst/>
              <a:cxnLst/>
              <a:rect r="r" b="b" t="t" l="l"/>
              <a:pathLst>
                <a:path h="313829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260080"/>
                  </a:lnTo>
                  <a:cubicBezTo>
                    <a:pt x="644906" y="274335"/>
                    <a:pt x="639243" y="288007"/>
                    <a:pt x="629163" y="298087"/>
                  </a:cubicBezTo>
                  <a:cubicBezTo>
                    <a:pt x="619083" y="308167"/>
                    <a:pt x="605411" y="313829"/>
                    <a:pt x="591156" y="313829"/>
                  </a:cubicBezTo>
                  <a:lnTo>
                    <a:pt x="53750" y="313829"/>
                  </a:lnTo>
                  <a:cubicBezTo>
                    <a:pt x="24065" y="313829"/>
                    <a:pt x="0" y="289765"/>
                    <a:pt x="0" y="260080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44906" cy="351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Auto-Retrain Trigger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466735" y="2844871"/>
            <a:ext cx="2448627" cy="920607"/>
            <a:chOff x="0" y="0"/>
            <a:chExt cx="644906" cy="2424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4906" cy="242464"/>
            </a:xfrm>
            <a:custGeom>
              <a:avLst/>
              <a:gdLst/>
              <a:ahLst/>
              <a:cxnLst/>
              <a:rect r="r" b="b" t="t" l="l"/>
              <a:pathLst>
                <a:path h="242464" w="644906">
                  <a:moveTo>
                    <a:pt x="53750" y="0"/>
                  </a:moveTo>
                  <a:lnTo>
                    <a:pt x="591156" y="0"/>
                  </a:lnTo>
                  <a:cubicBezTo>
                    <a:pt x="620841" y="0"/>
                    <a:pt x="644906" y="24065"/>
                    <a:pt x="644906" y="53750"/>
                  </a:cubicBezTo>
                  <a:lnTo>
                    <a:pt x="644906" y="188715"/>
                  </a:lnTo>
                  <a:cubicBezTo>
                    <a:pt x="644906" y="202970"/>
                    <a:pt x="639243" y="216641"/>
                    <a:pt x="629163" y="226721"/>
                  </a:cubicBezTo>
                  <a:cubicBezTo>
                    <a:pt x="619083" y="236801"/>
                    <a:pt x="605411" y="242464"/>
                    <a:pt x="591156" y="242464"/>
                  </a:cubicBezTo>
                  <a:lnTo>
                    <a:pt x="53750" y="242464"/>
                  </a:lnTo>
                  <a:cubicBezTo>
                    <a:pt x="24065" y="242464"/>
                    <a:pt x="0" y="218400"/>
                    <a:pt x="0" y="188715"/>
                  </a:cubicBezTo>
                  <a:lnTo>
                    <a:pt x="0" y="53750"/>
                  </a:lnTo>
                  <a:cubicBezTo>
                    <a:pt x="0" y="24065"/>
                    <a:pt x="24065" y="0"/>
                    <a:pt x="53750" y="0"/>
                  </a:cubicBezTo>
                  <a:close/>
                </a:path>
              </a:pathLst>
            </a:custGeom>
            <a:solidFill>
              <a:srgbClr val="F7F5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44906" cy="28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OPS PHASE</a:t>
              </a:r>
            </a:p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true" flipV="true" rot="-10800000">
            <a:off x="8798584" y="5042605"/>
            <a:ext cx="819150" cy="232341"/>
          </a:xfrm>
          <a:custGeom>
            <a:avLst/>
            <a:gdLst/>
            <a:ahLst/>
            <a:cxnLst/>
            <a:rect r="r" b="b" t="t" l="l"/>
            <a:pathLst>
              <a:path h="232341" w="819150">
                <a:moveTo>
                  <a:pt x="819150" y="232341"/>
                </a:moveTo>
                <a:lnTo>
                  <a:pt x="0" y="232341"/>
                </a:lnTo>
                <a:lnTo>
                  <a:pt x="0" y="0"/>
                </a:lnTo>
                <a:lnTo>
                  <a:pt x="819150" y="0"/>
                </a:lnTo>
                <a:lnTo>
                  <a:pt x="819150" y="23234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true" flipV="true" rot="-10800000">
            <a:off x="13154906" y="4966519"/>
            <a:ext cx="623970" cy="176981"/>
          </a:xfrm>
          <a:custGeom>
            <a:avLst/>
            <a:gdLst/>
            <a:ahLst/>
            <a:cxnLst/>
            <a:rect r="r" b="b" t="t" l="l"/>
            <a:pathLst>
              <a:path h="176981" w="623970">
                <a:moveTo>
                  <a:pt x="623970" y="176981"/>
                </a:moveTo>
                <a:lnTo>
                  <a:pt x="0" y="176981"/>
                </a:lnTo>
                <a:lnTo>
                  <a:pt x="0" y="0"/>
                </a:lnTo>
                <a:lnTo>
                  <a:pt x="623970" y="0"/>
                </a:lnTo>
                <a:lnTo>
                  <a:pt x="623970" y="17698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3526" y="0"/>
            <a:ext cx="13000948" cy="10287000"/>
          </a:xfrm>
          <a:custGeom>
            <a:avLst/>
            <a:gdLst/>
            <a:ahLst/>
            <a:cxnLst/>
            <a:rect r="r" b="b" t="t" l="l"/>
            <a:pathLst>
              <a:path h="10287000" w="13000948">
                <a:moveTo>
                  <a:pt x="0" y="0"/>
                </a:moveTo>
                <a:lnTo>
                  <a:pt x="13000948" y="0"/>
                </a:lnTo>
                <a:lnTo>
                  <a:pt x="130009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297" y="175874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1" y="0"/>
                </a:lnTo>
                <a:lnTo>
                  <a:pt x="593501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7147" y="2966674"/>
            <a:ext cx="4821589" cy="4821589"/>
          </a:xfrm>
          <a:custGeom>
            <a:avLst/>
            <a:gdLst/>
            <a:ahLst/>
            <a:cxnLst/>
            <a:rect r="r" b="b" t="t" l="l"/>
            <a:pathLst>
              <a:path h="4821589" w="4821589">
                <a:moveTo>
                  <a:pt x="0" y="0"/>
                </a:moveTo>
                <a:lnTo>
                  <a:pt x="4821588" y="0"/>
                </a:lnTo>
                <a:lnTo>
                  <a:pt x="4821588" y="4821588"/>
                </a:lnTo>
                <a:lnTo>
                  <a:pt x="0" y="482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4717" y="664124"/>
            <a:ext cx="2759117" cy="1916152"/>
          </a:xfrm>
          <a:custGeom>
            <a:avLst/>
            <a:gdLst/>
            <a:ahLst/>
            <a:cxnLst/>
            <a:rect r="r" b="b" t="t" l="l"/>
            <a:pathLst>
              <a:path h="1916152" w="2759117">
                <a:moveTo>
                  <a:pt x="0" y="0"/>
                </a:moveTo>
                <a:lnTo>
                  <a:pt x="2759117" y="0"/>
                </a:lnTo>
                <a:lnTo>
                  <a:pt x="2759117" y="1916152"/>
                </a:lnTo>
                <a:lnTo>
                  <a:pt x="0" y="191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55742" y="7788262"/>
            <a:ext cx="2759117" cy="1916152"/>
          </a:xfrm>
          <a:custGeom>
            <a:avLst/>
            <a:gdLst/>
            <a:ahLst/>
            <a:cxnLst/>
            <a:rect r="r" b="b" t="t" l="l"/>
            <a:pathLst>
              <a:path h="1916152" w="2759117">
                <a:moveTo>
                  <a:pt x="0" y="0"/>
                </a:moveTo>
                <a:lnTo>
                  <a:pt x="2759117" y="0"/>
                </a:lnTo>
                <a:lnTo>
                  <a:pt x="2759117" y="1916152"/>
                </a:lnTo>
                <a:lnTo>
                  <a:pt x="0" y="1916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67398" y="1776734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8798" y="4383088"/>
            <a:ext cx="119103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Implementation Steps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70913"/>
            <a:ext cx="14894661" cy="117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Phase 1: Data &amp; Training (Steps 1–7)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67938"/>
            <a:ext cx="16595886" cy="582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Environment Setup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Create a virtual environment and configure PowerShell execution policies.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Dependency Install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Install core libraries including MLflow, FastAPI, XGBoost, and Scikit-Learn.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Ingestion: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Merge raw CIC-IDS2017 CSVs into a single 2.3M row Parquet file for optimized processing.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Validation: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Execute automated quality checks for missing values, duplicates (82,004 removed), and class imbalance.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MLflow Server: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Launch a local tracking server with a SQLite backend to log all experimental metadata.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 Random Forest: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Establish a baseline ensemble model (Macro F1 = 0.8552). </a:t>
            </a:r>
          </a:p>
          <a:p>
            <a:pPr algn="l" marL="604519" indent="-302260" lvl="1">
              <a:lnSpc>
                <a:spcPts val="4675"/>
              </a:lnSpc>
              <a:buAutoNum type="arabicPeriod" startAt="1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Train XGBoost: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Implement Gradient Boosting, achieving a superior Macro F1 of 0.9018. 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3325" y="678819"/>
            <a:ext cx="14894661" cy="117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Phase 2: Serving &amp; Ops (Steps 8–13)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6057" y="2293262"/>
            <a:ext cx="16595886" cy="759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8. Model Selection: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Automatically promote the winning XGBoost model and export it as a production-ready .pkl file. </a:t>
            </a: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9. Hyp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erparameter Tuning: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Refine model performance via GridSearchCV (27 combinations) to maximize accuracy. </a:t>
            </a: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10. F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astAPI Inference API: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Deploy a RESTful API with endpoints for real-time traffic prediction (/predict) and system health. </a:t>
            </a:r>
          </a:p>
          <a:p>
            <a:pPr algn="l">
              <a:lnSpc>
                <a:spcPts val="4675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Docker Containerization: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Package the security layer (1.89 GB) and frontend (216 MB) into isolated, portable containers. </a:t>
            </a:r>
          </a:p>
          <a:p>
            <a:pPr algn="l">
              <a:lnSpc>
                <a:spcPts val="4675"/>
              </a:lnSpc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CI/CD — GitHub Actions: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Automate the pipeline to run unit tests and rebuild Docker images on every code push. </a:t>
            </a: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13. Drift Detection: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Implement continuous monitoring using KS tests; detect feature drift and trigger alerts via AWS CloudWatch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Model Results &amp; Comparison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1519"/>
            <a:ext cx="16595886" cy="405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Performance Metrics Summary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XGBoost (Winner):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Achieved a Macro F1-Score of 0.9018, demonstrating superior handling of complex attack patterns.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Random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Forest: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Achieved a Macro F1-Score of 0.8552, serving as a strong but less precise baseline.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Post-optimization via GridSearchCV improved the Random Forest CV F1-Score to 0.9010.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5450" y="3386434"/>
            <a:ext cx="6825779" cy="5871866"/>
          </a:xfrm>
          <a:custGeom>
            <a:avLst/>
            <a:gdLst/>
            <a:ahLst/>
            <a:cxnLst/>
            <a:rect r="r" b="b" t="t" l="l"/>
            <a:pathLst>
              <a:path h="5871866" w="6825779">
                <a:moveTo>
                  <a:pt x="0" y="0"/>
                </a:moveTo>
                <a:lnTo>
                  <a:pt x="6825779" y="0"/>
                </a:lnTo>
                <a:lnTo>
                  <a:pt x="6825779" y="5871866"/>
                </a:lnTo>
                <a:lnTo>
                  <a:pt x="0" y="5871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00403" y="3379867"/>
            <a:ext cx="6522211" cy="5878433"/>
          </a:xfrm>
          <a:custGeom>
            <a:avLst/>
            <a:gdLst/>
            <a:ahLst/>
            <a:cxnLst/>
            <a:rect r="r" b="b" t="t" l="l"/>
            <a:pathLst>
              <a:path h="5878433" w="6522211">
                <a:moveTo>
                  <a:pt x="0" y="0"/>
                </a:moveTo>
                <a:lnTo>
                  <a:pt x="6522210" y="0"/>
                </a:lnTo>
                <a:lnTo>
                  <a:pt x="6522210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Model Results &amp; Comparison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FastAPI Inference API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1519"/>
            <a:ext cx="16595886" cy="641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Deployment: Runs via Uvicorn on port 8000 for high-concurrency handling. </a:t>
            </a: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Endpoints: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 /predict: Classifies 77 features into ALLOW or BLOCK actions.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GET /health: Ensures the service is alive for Docker orchestration.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Output Details: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Returns the specific attack class (e.g., BENIGN, DoS).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confidence score and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processing time 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Operational Role: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Serves as Step 10 in the pipeline, li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nk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 the XGBoost model to the live environment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11192" y="3559106"/>
            <a:ext cx="6046181" cy="5425302"/>
          </a:xfrm>
          <a:custGeom>
            <a:avLst/>
            <a:gdLst/>
            <a:ahLst/>
            <a:cxnLst/>
            <a:rect r="r" b="b" t="t" l="l"/>
            <a:pathLst>
              <a:path h="5425302" w="6046181">
                <a:moveTo>
                  <a:pt x="0" y="0"/>
                </a:moveTo>
                <a:lnTo>
                  <a:pt x="6046181" y="0"/>
                </a:lnTo>
                <a:lnTo>
                  <a:pt x="6046181" y="5425302"/>
                </a:lnTo>
                <a:lnTo>
                  <a:pt x="0" y="5425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FastAPI Inference API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51541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5450" y="697869"/>
            <a:ext cx="16369138" cy="329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MLflow Experiment Tracking &amp; Hyperparameter Tuning</a:t>
            </a:r>
          </a:p>
          <a:p>
            <a:pPr algn="ctr">
              <a:lnSpc>
                <a:spcPts val="9378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14019"/>
            <a:ext cx="16595886" cy="523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Centralized Logging: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Utilized MLflow on localhost:5000 with a SQLite backend to track all model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parameters, metrics, and artifacts.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 Comparison: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Enabled side-by-side performance analysis, leading to the selection of XGBoost (Macro F1: 0.9018) over Random Forest.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perparameter Optimization: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nduct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via GridSearchCV, testing 27 different combinations with 3-fold cross-validation.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Automated Selection: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system ide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nt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ifies the "winner" based on F1-score and automatically exports the best model.pkl for deployment. 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51541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3138590"/>
            <a:ext cx="11301259" cy="5735389"/>
          </a:xfrm>
          <a:custGeom>
            <a:avLst/>
            <a:gdLst/>
            <a:ahLst/>
            <a:cxnLst/>
            <a:rect r="r" b="b" t="t" l="l"/>
            <a:pathLst>
              <a:path h="5735389" w="11301259">
                <a:moveTo>
                  <a:pt x="0" y="0"/>
                </a:moveTo>
                <a:lnTo>
                  <a:pt x="11301258" y="0"/>
                </a:lnTo>
                <a:lnTo>
                  <a:pt x="11301258" y="5735389"/>
                </a:lnTo>
                <a:lnTo>
                  <a:pt x="0" y="5735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5450" y="697869"/>
            <a:ext cx="16369138" cy="329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MLflow Experiment Tracking &amp; Hyperparameter Tuning</a:t>
            </a:r>
          </a:p>
          <a:p>
            <a:pPr algn="ctr">
              <a:lnSpc>
                <a:spcPts val="93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51541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074817"/>
            <a:ext cx="7502419" cy="6067581"/>
          </a:xfrm>
          <a:custGeom>
            <a:avLst/>
            <a:gdLst/>
            <a:ahLst/>
            <a:cxnLst/>
            <a:rect r="r" b="b" t="t" l="l"/>
            <a:pathLst>
              <a:path h="6067581" w="7502419">
                <a:moveTo>
                  <a:pt x="0" y="0"/>
                </a:moveTo>
                <a:lnTo>
                  <a:pt x="7502419" y="0"/>
                </a:lnTo>
                <a:lnTo>
                  <a:pt x="7502419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1568" y="4291565"/>
            <a:ext cx="9803020" cy="2597800"/>
          </a:xfrm>
          <a:custGeom>
            <a:avLst/>
            <a:gdLst/>
            <a:ahLst/>
            <a:cxnLst/>
            <a:rect r="r" b="b" t="t" l="l"/>
            <a:pathLst>
              <a:path h="2597800" w="9803020">
                <a:moveTo>
                  <a:pt x="0" y="0"/>
                </a:moveTo>
                <a:lnTo>
                  <a:pt x="9803020" y="0"/>
                </a:lnTo>
                <a:lnTo>
                  <a:pt x="9803020" y="2597800"/>
                </a:lnTo>
                <a:lnTo>
                  <a:pt x="0" y="259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5450" y="697869"/>
            <a:ext cx="16369138" cy="3295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8"/>
              </a:lnSpc>
            </a:pPr>
            <a:r>
              <a:rPr lang="en-US" sz="60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MLflow Experiment Tracking &amp; Hyperparameter Tuning</a:t>
            </a:r>
          </a:p>
          <a:p>
            <a:pPr algn="ctr">
              <a:lnSpc>
                <a:spcPts val="93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Drift Detection &amp; Cloud Monitoring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1519"/>
            <a:ext cx="16595886" cy="641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Dual-Layer Monitoring Strategy: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Layer 1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(API Health):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Polls the /health endpoint to monitor uptime, request volume, and real-time block rates.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ayer 2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(Statistical Drift):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Compares 66 numeric features against the training baseline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 the Kolmogorov-Smirnov (KS) test.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Drift Logic &amp; Thresholds: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Any feature with a KS p-value &lt; 0.05 is flagged as drifted.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production, detecting drift in 9/66 features (13.6% rate) triggers a retraining alert.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Drift Detection &amp; Cloud Monitoring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21519"/>
            <a:ext cx="16595886" cy="464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Alerting &amp; Reporting: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rift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incidents are logged to monitoring/drift_log.json and synchronized with AWS CloudWatch.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Evid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ently AI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automatically generates an interactive drift_report.html for deep-dive analysis.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Retraining Loop: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Drift detection r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uns o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a cron schedule.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 the threshold is exceeded, the system initiates src/train.py to update the model with fresh data. 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117" y="4011088"/>
            <a:ext cx="7604655" cy="5247212"/>
          </a:xfrm>
          <a:custGeom>
            <a:avLst/>
            <a:gdLst/>
            <a:ahLst/>
            <a:cxnLst/>
            <a:rect r="r" b="b" t="t" l="l"/>
            <a:pathLst>
              <a:path h="5247212" w="7604655">
                <a:moveTo>
                  <a:pt x="0" y="0"/>
                </a:moveTo>
                <a:lnTo>
                  <a:pt x="7604655" y="0"/>
                </a:lnTo>
                <a:lnTo>
                  <a:pt x="7604655" y="5247212"/>
                </a:lnTo>
                <a:lnTo>
                  <a:pt x="0" y="5247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42226" y="4299837"/>
            <a:ext cx="9275331" cy="4594667"/>
          </a:xfrm>
          <a:custGeom>
            <a:avLst/>
            <a:gdLst/>
            <a:ahLst/>
            <a:cxnLst/>
            <a:rect r="r" b="b" t="t" l="l"/>
            <a:pathLst>
              <a:path h="4594667" w="9275331">
                <a:moveTo>
                  <a:pt x="0" y="0"/>
                </a:moveTo>
                <a:lnTo>
                  <a:pt x="9275330" y="0"/>
                </a:lnTo>
                <a:lnTo>
                  <a:pt x="9275330" y="4594667"/>
                </a:lnTo>
                <a:lnTo>
                  <a:pt x="0" y="45946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Drift Detection &amp; Cloud Monitoring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83109" y="0"/>
            <a:ext cx="1624338" cy="812169"/>
          </a:xfrm>
          <a:custGeom>
            <a:avLst/>
            <a:gdLst/>
            <a:ahLst/>
            <a:cxnLst/>
            <a:rect r="r" b="b" t="t" l="l"/>
            <a:pathLst>
              <a:path h="812169" w="1624338">
                <a:moveTo>
                  <a:pt x="0" y="0"/>
                </a:moveTo>
                <a:lnTo>
                  <a:pt x="1624338" y="0"/>
                </a:lnTo>
                <a:lnTo>
                  <a:pt x="1624338" y="812169"/>
                </a:lnTo>
                <a:lnTo>
                  <a:pt x="0" y="8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02652" y="3804939"/>
            <a:ext cx="11301259" cy="4181466"/>
          </a:xfrm>
          <a:custGeom>
            <a:avLst/>
            <a:gdLst/>
            <a:ahLst/>
            <a:cxnLst/>
            <a:rect r="r" b="b" t="t" l="l"/>
            <a:pathLst>
              <a:path h="4181466" w="11301259">
                <a:moveTo>
                  <a:pt x="0" y="0"/>
                </a:moveTo>
                <a:lnTo>
                  <a:pt x="11301259" y="0"/>
                </a:lnTo>
                <a:lnTo>
                  <a:pt x="11301259" y="4181465"/>
                </a:lnTo>
                <a:lnTo>
                  <a:pt x="0" y="418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880438"/>
            <a:ext cx="15108145" cy="241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Drift Detection &amp; Cloud Monitoring</a:t>
            </a:r>
          </a:p>
          <a:p>
            <a:pPr algn="just">
              <a:lnSpc>
                <a:spcPts val="979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928" y="707394"/>
            <a:ext cx="15108145" cy="9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Docker Containerization — Two-Container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4440"/>
            <a:ext cx="16595886" cy="877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Architecture Strategy: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Implements a modular system using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Docke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 Compose to isolate the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security engine from the application server.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Container Breakdown: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Security Layer (docker-security-layer):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1.89 GB container (port 8000) housing the ML mo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and FastAPI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server to enforce ALLOW/BLOCK decisions.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Main Website (docker-main-website):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216 MB container (port 9000) that only processes traffic classified as BENIGN.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etworking: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Both containers comm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unicate over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private adapt-shield-network usi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internal DNS, replacing static IP addresses with service names.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Resource Efficiency: 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production, the system maintains a low footprint with approximately 0.66% CPU and 281MB RAM usage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950" y="2477047"/>
            <a:ext cx="11301259" cy="2147239"/>
          </a:xfrm>
          <a:custGeom>
            <a:avLst/>
            <a:gdLst/>
            <a:ahLst/>
            <a:cxnLst/>
            <a:rect r="r" b="b" t="t" l="l"/>
            <a:pathLst>
              <a:path h="2147239" w="11301259">
                <a:moveTo>
                  <a:pt x="0" y="0"/>
                </a:moveTo>
                <a:lnTo>
                  <a:pt x="11301259" y="0"/>
                </a:lnTo>
                <a:lnTo>
                  <a:pt x="11301259" y="2147239"/>
                </a:lnTo>
                <a:lnTo>
                  <a:pt x="0" y="2147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1950" y="5143500"/>
            <a:ext cx="11301259" cy="3206732"/>
          </a:xfrm>
          <a:custGeom>
            <a:avLst/>
            <a:gdLst/>
            <a:ahLst/>
            <a:cxnLst/>
            <a:rect r="r" b="b" t="t" l="l"/>
            <a:pathLst>
              <a:path h="3206732" w="11301259">
                <a:moveTo>
                  <a:pt x="0" y="0"/>
                </a:moveTo>
                <a:lnTo>
                  <a:pt x="11301259" y="0"/>
                </a:lnTo>
                <a:lnTo>
                  <a:pt x="11301259" y="3206732"/>
                </a:lnTo>
                <a:lnTo>
                  <a:pt x="0" y="320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928" y="707394"/>
            <a:ext cx="15108145" cy="9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Docker Containerization — Two-Container Architecture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928" y="707394"/>
            <a:ext cx="15108145" cy="9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Docker Containerization — Two-Container Architecture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71248" y="2751104"/>
            <a:ext cx="10822801" cy="5343758"/>
          </a:xfrm>
          <a:custGeom>
            <a:avLst/>
            <a:gdLst/>
            <a:ahLst/>
            <a:cxnLst/>
            <a:rect r="r" b="b" t="t" l="l"/>
            <a:pathLst>
              <a:path h="5343758" w="10822801">
                <a:moveTo>
                  <a:pt x="0" y="0"/>
                </a:moveTo>
                <a:lnTo>
                  <a:pt x="10822801" y="0"/>
                </a:lnTo>
                <a:lnTo>
                  <a:pt x="10822801" y="5343758"/>
                </a:lnTo>
                <a:lnTo>
                  <a:pt x="0" y="5343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928" y="707394"/>
            <a:ext cx="15108145" cy="9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GitHub Actions CI/CD — Automated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64588"/>
            <a:ext cx="16595886" cy="582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Trigger Mechanism: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.github/workflows/ci-cd.yml pi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peline initiates a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utomatically upon every push to the main branch. </a:t>
            </a:r>
          </a:p>
          <a:p>
            <a:pPr algn="l">
              <a:lnSpc>
                <a:spcPts val="4675"/>
              </a:lnSpc>
            </a:pPr>
          </a:p>
          <a:p>
            <a:pPr algn="l">
              <a:lnSpc>
                <a:spcPts val="4675"/>
              </a:lnSpc>
            </a:pP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Pipel</a:t>
            </a:r>
            <a:r>
              <a:rPr lang="en-US" sz="2799" b="true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ine Workflow: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Job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1 (Unit Tests):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Sets up Python 3.11 and executes the pyt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suite to ensure code integrity. </a:t>
            </a: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Job 2 (Bu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ild &amp; Push):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Builds the Docker images and pushes them to Docker Hub only if all tests pass.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erformance: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entir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pipeli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completes in just 1 minute 37 seconds, ensuring every commit is verified and deployable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2925628"/>
            <a:ext cx="11301259" cy="4435744"/>
          </a:xfrm>
          <a:custGeom>
            <a:avLst/>
            <a:gdLst/>
            <a:ahLst/>
            <a:cxnLst/>
            <a:rect r="r" b="b" t="t" l="l"/>
            <a:pathLst>
              <a:path h="4435744" w="11301259">
                <a:moveTo>
                  <a:pt x="0" y="0"/>
                </a:moveTo>
                <a:lnTo>
                  <a:pt x="11301258" y="0"/>
                </a:lnTo>
                <a:lnTo>
                  <a:pt x="11301258" y="4435744"/>
                </a:lnTo>
                <a:lnTo>
                  <a:pt x="0" y="44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9928" y="707394"/>
            <a:ext cx="15108145" cy="9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GitHub Actions CI/CD — Automated Pipeline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928" y="707394"/>
            <a:ext cx="15108145" cy="187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AWS EC2 Cloud Deployment — Live at 65.0.185.101</a:t>
            </a:r>
          </a:p>
          <a:p>
            <a:pPr algn="l">
              <a:lnSpc>
                <a:spcPts val="755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07042"/>
            <a:ext cx="16595886" cy="582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Host: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Deploy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 on AWS EC2 t2.micro (M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umbai region) using the Free Tier.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ethod: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Docker Compose to run both the S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urity Layer and Website in detached mode.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Connectivity: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boun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rules open Port 9000 (Website), Port 8000 (API), and Port 22 (SSH).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Monitoring: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AWS CloudWatch tracks C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PU, N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etwork I/O, and container logs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real-tim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e. </a:t>
            </a:r>
          </a:p>
          <a:p>
            <a:pPr algn="l">
              <a:lnSpc>
                <a:spcPts val="4675"/>
              </a:lnSpc>
            </a:pPr>
          </a:p>
          <a:p>
            <a:pPr algn="l" marL="604519" indent="-302260" lvl="1">
              <a:lnSpc>
                <a:spcPts val="4675"/>
              </a:lnSpc>
              <a:buFont typeface="Arial"/>
              <a:buChar char="•"/>
            </a:pPr>
            <a:r>
              <a:rPr lang="en-US" b="true" sz="2799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Live Status: 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Accessible at 65.0.185.101, providing a fully functional, cloud-native security environment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75727" y="2580032"/>
            <a:ext cx="11434682" cy="4402353"/>
          </a:xfrm>
          <a:custGeom>
            <a:avLst/>
            <a:gdLst/>
            <a:ahLst/>
            <a:cxnLst/>
            <a:rect r="r" b="b" t="t" l="l"/>
            <a:pathLst>
              <a:path h="4402353" w="11434682">
                <a:moveTo>
                  <a:pt x="0" y="0"/>
                </a:moveTo>
                <a:lnTo>
                  <a:pt x="11434682" y="0"/>
                </a:lnTo>
                <a:lnTo>
                  <a:pt x="11434682" y="4402352"/>
                </a:lnTo>
                <a:lnTo>
                  <a:pt x="0" y="440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9928" y="707394"/>
            <a:ext cx="15108145" cy="187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AWS EC2 Cloud Deployment — Live at 65.0.185.101</a:t>
            </a:r>
          </a:p>
          <a:p>
            <a:pPr algn="l">
              <a:lnSpc>
                <a:spcPts val="7558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812169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2480641"/>
            <a:ext cx="11301259" cy="5325718"/>
          </a:xfrm>
          <a:custGeom>
            <a:avLst/>
            <a:gdLst/>
            <a:ahLst/>
            <a:cxnLst/>
            <a:rect r="r" b="b" t="t" l="l"/>
            <a:pathLst>
              <a:path h="5325718" w="11301259">
                <a:moveTo>
                  <a:pt x="0" y="0"/>
                </a:moveTo>
                <a:lnTo>
                  <a:pt x="11301258" y="0"/>
                </a:lnTo>
                <a:lnTo>
                  <a:pt x="11301258" y="5325718"/>
                </a:lnTo>
                <a:lnTo>
                  <a:pt x="0" y="532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9928" y="707394"/>
            <a:ext cx="15108145" cy="187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AWS EC2 Cloud Deployment — Live at 65.0.185.101</a:t>
            </a:r>
          </a:p>
          <a:p>
            <a:pPr algn="l">
              <a:lnSpc>
                <a:spcPts val="7558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996" y="499251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1" y="0"/>
                </a:lnTo>
                <a:lnTo>
                  <a:pt x="593501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79747" y="1723659"/>
          <a:ext cx="16230600" cy="8410575"/>
        </p:xfrm>
        <a:graphic>
          <a:graphicData uri="http://schemas.openxmlformats.org/drawingml/2006/table">
            <a:tbl>
              <a:tblPr/>
              <a:tblGrid>
                <a:gridCol w="3306486"/>
                <a:gridCol w="3306486"/>
                <a:gridCol w="3306486"/>
                <a:gridCol w="6311142"/>
              </a:tblGrid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Version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All ML and backend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3.12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Scikit-learn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RandomForest, StandardScaler, GridSearchCV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1.8.0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Gradient boosted multi-class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3.2.0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Pandas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DataFrame operations and parquet I/O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2.3.3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PyArrow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Parquet file reading (8 source files)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23.0.1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38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MLflow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Experiment tracking, model registry, and artifacts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3.11.1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Tracking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FastAPI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REST API with automatic Swagger 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0.136.0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40974" y="142727"/>
            <a:ext cx="15108145" cy="118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8"/>
              </a:lnSpc>
              <a:spcBef>
                <a:spcPct val="0"/>
              </a:spcBef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Tools &amp; Technologies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3195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18748" y="2055499"/>
          <a:ext cx="16230600" cy="8027594"/>
        </p:xfrm>
        <a:graphic>
          <a:graphicData uri="http://schemas.openxmlformats.org/drawingml/2006/table">
            <a:tbl>
              <a:tblPr/>
              <a:tblGrid>
                <a:gridCol w="3306486"/>
                <a:gridCol w="3306486"/>
                <a:gridCol w="3306486"/>
                <a:gridCol w="6311142"/>
              </a:tblGrid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Version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Uvicorn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ASGI server for FastAPI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0.44.0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3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Pydantic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Request/response schema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2.13.2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Joblib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Saving and loading .pkl model files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1.5.3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Docker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Container images for reproducibility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Desktop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Docker Compose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Multi-container orchestration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Latest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GitHub 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Automated test → build → push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CI/CD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AWS EC2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Free Tier cloud deployment (ap-south-1)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t2.micro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Cloud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58749" y="429924"/>
            <a:ext cx="838095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Tools &amp; Technologies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27175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18748" y="2055499"/>
          <a:ext cx="16230600" cy="7008419"/>
        </p:xfrm>
        <a:graphic>
          <a:graphicData uri="http://schemas.openxmlformats.org/drawingml/2006/table">
            <a:tbl>
              <a:tblPr/>
              <a:tblGrid>
                <a:gridCol w="3306486"/>
                <a:gridCol w="3306486"/>
                <a:gridCol w="3306486"/>
                <a:gridCol w="6311142"/>
              </a:tblGrid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Version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AWS CloudWatch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CPU, network, and log monitoring via IAM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Cloud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Evidently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HTML data drift report generation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0.7.21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SciPy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Kolmogorov-Smirnov statistical drift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1.17.1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Matplotlib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Confusion matrix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3.10.8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Viz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Unit tests for CI/CD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9.0.3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7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Git + 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Version control and CI/CD trigger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Latest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58749" y="252943"/>
            <a:ext cx="8380952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9"/>
              </a:lnSpc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Tools &amp; Technologies</a:t>
            </a:r>
          </a:p>
          <a:p>
            <a:pPr algn="just">
              <a:lnSpc>
                <a:spcPts val="9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1950" y="610243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5407" y="1614199"/>
            <a:ext cx="13997186" cy="8448333"/>
          </a:xfrm>
          <a:custGeom>
            <a:avLst/>
            <a:gdLst/>
            <a:ahLst/>
            <a:cxnLst/>
            <a:rect r="r" b="b" t="t" l="l"/>
            <a:pathLst>
              <a:path h="8448333" w="13997186">
                <a:moveTo>
                  <a:pt x="0" y="0"/>
                </a:moveTo>
                <a:lnTo>
                  <a:pt x="13997186" y="0"/>
                </a:lnTo>
                <a:lnTo>
                  <a:pt x="13997186" y="8448334"/>
                </a:lnTo>
                <a:lnTo>
                  <a:pt x="0" y="844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4498" b="-2534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8749" y="252943"/>
            <a:ext cx="12672755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System Workflow with tools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9575" y="883824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1"/>
                </a:lnTo>
                <a:lnTo>
                  <a:pt x="0" y="59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5708" y="543670"/>
            <a:ext cx="16230600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Limitations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9575" y="2269863"/>
            <a:ext cx="16417374" cy="684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Computing</a:t>
            </a: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Constraints: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deployment uses an AWS EC2 t2.micro instance, which provides limited CPU and RAM (1GB), potentially restricting throughput during high-traffic bursts.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</a:t>
            </a: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ature Sensitivity: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model relies on 77 specific network features from the CIC-IDS2017 dataset; performance may degrade if live network traffic formats vary significantly from this baseline.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Static Thresholds: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Drift de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tection relies on a fixed KS p-value of 0.05, which may require periodic manual adjustment to avoid false-positive retraining alerts.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Retraining La</a:t>
            </a: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tency: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While drift detection is automated, the actual retraining process (triggered by src/train.py) requires time to process 2.3M rows, creating a temporary lag before the new model is live.</a:t>
            </a:r>
          </a:p>
          <a:p>
            <a:pPr algn="just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9575" y="883824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1"/>
                </a:lnTo>
                <a:lnTo>
                  <a:pt x="0" y="59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5708" y="543670"/>
            <a:ext cx="16230600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5313" y="2601082"/>
            <a:ext cx="16417374" cy="56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Auto-Scaling</a:t>
            </a: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Architecture: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Migrate from a single EC2 instance to AWS ECS or Kubernetes (EKS) to handle fluctuating traffic loads dynamically.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Enhanced Drift Intelligence: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Incorporate Evidently AI more deeply to include "Concept Drift" monitoring, tracking the model's target accuracy over time rather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 just feature distribution.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GPU Accel</a:t>
            </a: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eration: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 GPU-based training using XGBoost's CUDA support to reduce retraining time from minutes to seconds.</a:t>
            </a:r>
          </a:p>
          <a:p>
            <a:pPr algn="just" marL="696367" indent="-348183" lvl="1">
              <a:lnSpc>
                <a:spcPts val="4515"/>
              </a:lnSpc>
              <a:buFont typeface="Arial"/>
              <a:buChar char="•"/>
            </a:pPr>
            <a:r>
              <a:rPr lang="en-US" b="true" sz="3225">
                <a:solidFill>
                  <a:srgbClr val="2D598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Real-time Dashboarding: 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egra</a:t>
            </a:r>
            <a:r>
              <a:rPr lang="en-US" sz="3225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 a live Grafana dashboard with the FastAPI /stats endpoint for visual, real-time threat monitoring and system health metrics.</a:t>
            </a:r>
          </a:p>
          <a:p>
            <a:pPr algn="just">
              <a:lnSpc>
                <a:spcPts val="4515"/>
              </a:lnSpc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36152" y="168319"/>
            <a:ext cx="7315200" cy="1157132"/>
          </a:xfrm>
          <a:custGeom>
            <a:avLst/>
            <a:gdLst/>
            <a:ahLst/>
            <a:cxnLst/>
            <a:rect r="r" b="b" t="t" l="l"/>
            <a:pathLst>
              <a:path h="1157132" w="7315200">
                <a:moveTo>
                  <a:pt x="0" y="0"/>
                </a:moveTo>
                <a:lnTo>
                  <a:pt x="7315200" y="0"/>
                </a:lnTo>
                <a:lnTo>
                  <a:pt x="7315200" y="1157131"/>
                </a:lnTo>
                <a:lnTo>
                  <a:pt x="0" y="1157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85735"/>
            <a:ext cx="10096796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20"/>
              </a:lnSpc>
            </a:pPr>
            <a:r>
              <a:rPr lang="en-US" sz="8000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1718" y="3759595"/>
            <a:ext cx="14406437" cy="607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435" indent="-337718" lvl="1">
              <a:lnSpc>
                <a:spcPts val="4379"/>
              </a:lnSpc>
              <a:spcBef>
                <a:spcPct val="0"/>
              </a:spcBef>
              <a:buFont typeface="Arial"/>
              <a:buChar char="•"/>
            </a:pP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Robust Detection: Achieved a 0.9018 Macro F1-Score</a:t>
            </a: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using XGBoost, providing high-accuracy classification across diverse attack types.</a:t>
            </a:r>
          </a:p>
          <a:p>
            <a:pPr algn="l" marL="675435" indent="-337718" lvl="1">
              <a:lnSpc>
                <a:spcPts val="4379"/>
              </a:lnSpc>
              <a:spcBef>
                <a:spcPct val="0"/>
              </a:spcBef>
              <a:buFont typeface="Arial"/>
              <a:buChar char="•"/>
            </a:pP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Production-Ready: Deployed a modular Docker architecture on AWS EC2, isolating security logic from the application for maximum stability.</a:t>
            </a:r>
          </a:p>
          <a:p>
            <a:pPr algn="l" marL="675435" indent="-337718" lvl="1">
              <a:lnSpc>
                <a:spcPts val="4379"/>
              </a:lnSpc>
              <a:spcBef>
                <a:spcPct val="0"/>
              </a:spcBef>
              <a:buFont typeface="Arial"/>
              <a:buChar char="•"/>
            </a:pP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Fully Automated: Streamlined the development lifecycle with GitHub Actions, enabling sub-2-minute automated testing and deployment.</a:t>
            </a:r>
          </a:p>
          <a:p>
            <a:pPr algn="l" marL="675435" indent="-337718" lvl="1">
              <a:lnSpc>
                <a:spcPts val="4379"/>
              </a:lnSpc>
              <a:spcBef>
                <a:spcPct val="0"/>
              </a:spcBef>
              <a:buFont typeface="Arial"/>
              <a:buChar char="•"/>
            </a:pP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Adaptive Intelligence: Integrated statistical drift detection using the KS test to trigger alerts and retraining when network patterns shift.</a:t>
            </a:r>
          </a:p>
          <a:p>
            <a:pPr algn="l" marL="675435" indent="-337718" lvl="1">
              <a:lnSpc>
                <a:spcPts val="4379"/>
              </a:lnSpc>
              <a:spcBef>
                <a:spcPct val="0"/>
              </a:spcBef>
              <a:buFont typeface="Arial"/>
              <a:buChar char="•"/>
            </a:pPr>
            <a:r>
              <a:rPr lang="en-US" sz="3128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Visibility: Leveraged MLflow for experiment tracking and AWS CloudWatch for live cloud infrastructure monitoring.</a:t>
            </a:r>
          </a:p>
          <a:p>
            <a:pPr algn="l">
              <a:lnSpc>
                <a:spcPts val="43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593500" cy="593500"/>
          </a:xfrm>
          <a:custGeom>
            <a:avLst/>
            <a:gdLst/>
            <a:ahLst/>
            <a:cxnLst/>
            <a:rect r="r" b="b" t="t" l="l"/>
            <a:pathLst>
              <a:path h="593500" w="593500">
                <a:moveTo>
                  <a:pt x="0" y="0"/>
                </a:moveTo>
                <a:lnTo>
                  <a:pt x="593500" y="0"/>
                </a:lnTo>
                <a:lnTo>
                  <a:pt x="593500" y="593500"/>
                </a:lnTo>
                <a:lnTo>
                  <a:pt x="0" y="59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66507" y="3456809"/>
            <a:ext cx="9933383" cy="271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9"/>
              </a:lnSpc>
              <a:spcBef>
                <a:spcPct val="0"/>
              </a:spcBef>
            </a:pPr>
            <a:r>
              <a:rPr lang="en-US" sz="15892">
                <a:solidFill>
                  <a:srgbClr val="2D5986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8798" y="1046685"/>
            <a:ext cx="2527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</a:t>
            </a:r>
            <a:r>
              <a:rPr lang="en-US" sz="2799">
                <a:solidFill>
                  <a:srgbClr val="2D598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T-SHIELD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DAHIPpzJow8</dc:identifier>
  <dcterms:modified xsi:type="dcterms:W3CDTF">2011-08-01T06:04:30Z</dcterms:modified>
  <cp:revision>1</cp:revision>
  <dc:title>Final MLOPs Presentation</dc:title>
</cp:coreProperties>
</file>